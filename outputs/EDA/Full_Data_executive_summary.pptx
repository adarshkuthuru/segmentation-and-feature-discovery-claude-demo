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8"/>
  </p:notesMasterIdLst>
  <p:sldIdLst>
    <p:sldId id="256" r:id="rId7"/>
    <p:sldId id="257" r:id="rId6"/>
    <p:sldId id="258" r:id="rId5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2F46"/>
    <a:srgbClr val="C7A059"/>
    <a:srgbClr val="F5F5F5"/>
    <a:srgbClr val="D4B074"/>
    <a:srgbClr val="E6D6BB"/>
    <a:srgbClr val="1D2D44"/>
    <a:srgbClr val="C8A15A"/>
    <a:srgbClr val="1E2761"/>
    <a:srgbClr val="C75B5B"/>
    <a:srgbClr val="2D6A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BCE333-6720-9146-A1EC-737ACBB8CE4D}" v="20" dt="2026-04-24T13:52:58.4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12"/>
    <p:restoredTop sz="70121" autoAdjust="0"/>
  </p:normalViewPr>
  <p:slideViewPr>
    <p:cSldViewPr snapToGrid="0" snapToObjects="1">
      <p:cViewPr varScale="1">
        <p:scale>
          <a:sx n="103" d="100"/>
          <a:sy n="103" d="100"/>
        </p:scale>
        <p:origin x="150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33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7863840" cy="10058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3200" b="1">
                <a:solidFill>
                  <a:srgbClr val="FFFFFF"/>
                </a:solidFill>
              </a:rPr>
              <a:t>Direct-Mail Prospect Data</a:t>
            </a:r>
          </a:p>
          <a:p>
            <a:r>
              <a:rPr sz="2000">
                <a:solidFill>
                  <a:srgbClr val="C9D4E8"/>
                </a:solidFill>
              </a:rPr>
              <a:t>EDA Readiness Review — All 5 Phases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7863840" cy="82296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1300">
                <a:solidFill>
                  <a:srgbClr val="9AA8C4"/>
                </a:solidFill>
              </a:rPr>
              <a:t>100,000 mailed prospects  •  79 columns  •  3 mailing waves  • 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7863840" cy="14630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1 — Business &amp; Data Understanding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2 — Data Quality Checks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3 — Univariate &amp; Distribution Analysis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4 — Relationship &amp; Target Analysis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AA8C4"/>
                </a:solidFill>
              </a:rPr>
              <a:t>  Phase 5 — Time-Based Trends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1 — BUSINESS &amp; DATA UNDERSTANDING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One row = one mailed prospect in the campaign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71015"/>
            <a:ext cx="8229600" cy="21031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300" b="1">
                <a:solidFill>
                  <a:srgbClr val="1F2D50"/>
                </a:solidFill>
              </a:rPr>
              <a:t>• 100,000 prospects mailed across 3 waves (Jan, Feb, Mar 2026) — the complete campaign file, not a sample.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79 columns per prospect: credit scores, income, and credit-history snapshots from three bureaus (Equifax, Experian, TransUnion) across multiple product types and time windows.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• Column naming convention: {BUREAU}_{PRODUCT}_{METRIC}_{WINDOW} — e.g. EFX_BC_UTIL_1 = Equifax, Bankcard, Utilisation, Window 1.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No pre-built "did they respond?" column exists — we derived it: responded = 1 when BCP_APPLICATION_ID is filled in (an application was submitted).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• Column definitions sourced from the BEST Data Dictionary (847 entries) — no guesswork on field meaning.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3511295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2D50"/>
                </a:solidFill>
              </a:rPr>
              <a:t>100,000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Prospects mailed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3511295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2D50"/>
                </a:solidFill>
              </a:rPr>
              <a:t>79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Columns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3511295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2D50"/>
                </a:solidFill>
              </a:rPr>
              <a:t>3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Mailing waves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0" y="3511295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2D50"/>
                </a:solidFill>
              </a:rPr>
              <a:t>410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Responded (derived target)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3511295"/>
            <a:ext cx="1645920" cy="1188720"/>
          </a:xfrm>
          <a:prstGeom prst="rect">
            <a:avLst/>
          </a:prstGeom>
          <a:solidFill>
            <a:srgbClr val="F2F4F8"/>
          </a:solidFill>
          <a:ln>
            <a:solidFill>
              <a:srgbClr val="C9D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2D50"/>
                </a:solidFill>
              </a:rPr>
              <a:t>84</a:t>
            </a:r>
          </a:p>
          <a:p>
            <a:pPr algn="ctr"/>
            <a:r>
              <a:rPr sz="1000">
                <a:solidFill>
                  <a:srgbClr val="555555"/>
                </a:solidFill>
              </a:rPr>
              <a:t>Booked a card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2 — DATA QUALITY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Clean file — hidden sentinel codes needed correcting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71015"/>
            <a:ext cx="8229600" cy="10058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</a:rPr>
              <a:t>• Zero full-row duplicates — no double-counting of prospects.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</a:rPr>
              <a:t>• No type mismatches, no broken columns, no out-of-range FICO or utilisation values.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</a:rPr>
              <a:t>• Date columns (drop date, application date) parse cleanly — no future-dated records.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41401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551175"/>
            <a:ext cx="8229600" cy="173736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300" b="1">
                <a:solidFill>
                  <a:srgbClr val="C88A00"/>
                </a:solidFill>
              </a:rPr>
              <a:t>• Credit-bureau fields use sentinel codes (e.g. 999, 9,999,999) to mean "no trade on file" — not actual large values.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88A00"/>
                </a:solidFill>
              </a:rPr>
              <a:t>• 239,312 sentinel-coded cells across 69 columns were converted to true blanks — without this step they would look like extreme data points.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74 of 79 columns have some missing values after this correction — expected and by design (not every prospect has every trade type).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• Only 3 columns are &gt;50% blank: BCP_APPLICATION_ID, BCP_ACCOUNT_ID, BCP_APPLICATION_RECEIVED_DATE — all leakage fields excluded from modeling anyway.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2 — DATA QUALITY CHECKS (CONTINUED)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Three bureaus, one signal — largely redundant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71015"/>
            <a:ext cx="4206240" cy="30175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• 23 metric families each appear three times — once from Equifax (EFX), once from Experian (EXP), once from TransUnion (TRU).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2E8B57"/>
                </a:solidFill>
              </a:rPr>
              <a:t>• 12 of 23 families: near-perfect agreement (avg r ≥ 0.95). Safe to collapse to one representative column.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88A00"/>
                </a:solidFill>
              </a:rPr>
              <a:t>• 11 of 23 families: partial agreement (avg r 0.63–0.93) — especially delinquency-occurrence fields. Bureau disagreement may carry real signal; review before collapsing.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• Missingness is systematic: if a prospect has no trade on file at Equifax, they typically have none at Experian or TransUnion either (dark horizontal bands in the chart).</a:t>
            </a:r>
          </a:p>
        </p:txBody>
      </p:sp>
      <p:pic>
        <p:nvPicPr>
          <p:cNvPr id="6" name="Picture 5" descr="missingnes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71015"/>
            <a:ext cx="4069080" cy="23251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3733364"/>
            <a:ext cx="4069080" cy="3200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Dark bands = missing values across all three bureau copies for the same prospect.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3 — UNIVARIATE &amp; DISTRIBUTION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Credit scores are normal; balances and income skew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539" y="1271015"/>
            <a:ext cx="32512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236975"/>
            <a:ext cx="8321040" cy="3200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Each bar chart shows how values are spread for one key field (sentinel-cleaned; blanks excluded).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94176"/>
            <a:ext cx="8321040" cy="91440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200" b="0">
                <a:solidFill>
                  <a:srgbClr val="2E8B57"/>
                </a:solidFill>
              </a:rPr>
              <a:t>• FICO (credit score): bell-shaped, mean 679, range 434–850. No entry errors.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88A00"/>
                </a:solidFill>
              </a:rPr>
              <a:t>• Income &amp; balances: strong right skew (skew 3–13). A small fraction of prospects carry very high balances. Log transform recommended before linear modeling.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88A00"/>
                </a:solidFill>
              </a:rPr>
              <a:t>• Delinquency fields: zero-inflated — ~78% of prospects have zero late payments; ~22% of values are flagged as outliers by standard IQR rules (all legitimate, not errors).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4 — RELATIONSHIP &amp; TARGET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Response is rare: 243 non-responders per 1 responder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71015"/>
            <a:ext cx="4480560" cy="30175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</a:rPr>
              <a:t>• 0.41% response rate: 410 of 100,000 prospects submitted an application.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B03A2E"/>
                </a:solidFill>
              </a:rPr>
              <a:t>• 0.084% booking rate: only 84 of 100,000 opened a card — 4.9× rarer than even responding.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Imbalance ratio: 243:1 (non-responders to responders).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C88A00"/>
                </a:solidFill>
              </a:rPr>
              <a:t>• Standard accuracy is meaningless here — a model that predicts "never responds" for everyone would be 99.59% accurate but completely useless.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Correct approach: measure success using lift/ranking (how many times better than random?) and use class-weighted or resampling methods during training.</a:t>
            </a:r>
          </a:p>
        </p:txBody>
      </p:sp>
      <p:pic>
        <p:nvPicPr>
          <p:cNvPr id="6" name="Picture 5" descr="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71015"/>
            <a:ext cx="3794760" cy="30358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0" y="4443984"/>
            <a:ext cx="3794760" cy="3200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Log scale needed to show both bars — the gap between 99,590 and 410 is that large.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4 — RELATIONSHIP &amp; TARGET ANALYSIS (CONTINUED)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Responders carry more debt and shop more actively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by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3539" y="1271015"/>
            <a:ext cx="32512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236975"/>
            <a:ext cx="8321040" cy="3200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Box plots comparing key fields for responders (right) vs. non-responders (left); extreme values trimmed for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94176"/>
            <a:ext cx="8321040" cy="9601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2E8B57"/>
                </a:solidFill>
              </a:rPr>
              <a:t>• Responders show higher credit utilisation (+4.1 percentage points) and more recent credit inquiries — both signs of active credit-market participation.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• Responders have slightly lower FICO (−3.6 pts) and lower income (−$4,375) than non-responders — the differences are subtle relative to within-group spread.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D50"/>
                </a:solidFill>
              </a:rPr>
              <a:t>• Takeaway: utilisation and inquiry activity are more promising early signals than credit score alone.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4 — RELATIONSHIP &amp; TARGET ANALYSIS (CONTINUED)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Each metric family adds unique, non-redundant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271015"/>
            <a:ext cx="4206240" cy="30175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• After removing the known bureau triplet repetition, the remaining metric families are essentially unrelated to each other.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2E8B57"/>
                </a:solidFill>
              </a:rPr>
              <a:t>• Strongest cross-family correlation: r = 0.011 (near-zero) — balance, age, utilisation, inquiry count, and delinquency each capture a genuinely different dimension of credit behaviour.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F2D50"/>
                </a:solidFill>
              </a:rPr>
              <a:t>• Candidate engineered features: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    – Cross-bureau average per family (fills gaps when one bureau is missing)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    – Has-credit-file flag (thin-file vs. established credit)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    – Utilisation-to-income ratio (affordability proxy)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</a:rPr>
              <a:t>    – Inquiry trend across time windows (credit-shopping acceleration)</a:t>
            </a:r>
          </a:p>
        </p:txBody>
      </p:sp>
      <p:pic>
        <p:nvPicPr>
          <p:cNvPr id="6" name="Picture 5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044" y="1271015"/>
            <a:ext cx="3730752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4517136"/>
            <a:ext cx="4069080" cy="3200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One representative per family (bureau siblings excluded). Near-zero correlations confirm independent signal per family.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PHASE 5 — TIME-BASED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Response rates are stable across all three mailing waves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aves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6684" y="1271015"/>
            <a:ext cx="3364991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511295"/>
            <a:ext cx="8321040" cy="3200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 algn="ctr"/>
            <a:r>
              <a:rPr sz="1000" i="1">
                <a:solidFill>
                  <a:srgbClr val="555555"/>
                </a:solidFill>
              </a:rPr>
              <a:t>Bars = volume mailed (left axis). Red line = response rate % (right axis). All three waves near-identical.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968496"/>
            <a:ext cx="8321040" cy="86868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• Jan 6: 33,143 mailed → 138 responded (0.416%)    Feb 10: 33,481 mailed → 136 responded (0.406%)    Mar 10: 33,376 mailed → 136 responded (0.407%)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E8B57"/>
                </a:solidFill>
              </a:rPr>
              <a:t>• Tight range of 0.406%–0.416% across 3 months — consistent list quality and offer. Time-series deep-dive not applicable (only 3 data points).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321040" cy="2743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900" b="0">
                <a:solidFill>
                  <a:srgbClr val="4C72B0"/>
                </a:solidFill>
              </a:rPr>
              <a:t>SYNTHESIS — PRE-MODELING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93775"/>
            <a:ext cx="8321040" cy="54864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200" b="1">
                <a:solidFill>
                  <a:srgbClr val="1F2D50"/>
                </a:solidFill>
              </a:rPr>
              <a:t>Seven things to resolve before building a response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33855"/>
            <a:ext cx="8321040" cy="18000"/>
          </a:xfrm>
          <a:prstGeom prst="rect">
            <a:avLst/>
          </a:prstGeom>
          <a:solidFill>
            <a:srgbClr val="C9D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71015"/>
            <a:ext cx="8229600" cy="34747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/>
          <a:p>
            <a:pPr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</a:rPr>
              <a:t>• Remove 7 leakage columns (BCP_APPLICATION_ID, BCP_ACCOUNT_ID, BCP_APPLICATION_RECEIVED_DATE, SOLICITATION_ID, PV, SRC_ID, ACCT_ID) — these only exist after a prospect has already responded and would give the model the answer.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88A00"/>
                </a:solidFill>
              </a:rPr>
              <a:t>• Decide how to handle "no trade on file" codes — keep as blank, add a has-trade flag, or impute. This analysis blanked them out (correct for stats); production models need a deliberate strategy.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88A00"/>
                </a:solidFill>
              </a:rPr>
              <a:t>• Collapse the 12 high-agreement bureau triplets (r ≥ 0.95) into one column each — reduces 36 redundant columns to 12.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C88A00"/>
                </a:solidFill>
              </a:rPr>
              <a:t>• Review and test the 11 lower-agreement bureau triplets (r 0.63–0.93) before collapsing — the delinquency fields in particular may contain bureau-specific signal.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• Apply log transform to income and balance fields before any linear model — their extreme right skew distorts distances and coefficients.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B03A2E"/>
                </a:solidFill>
              </a:rPr>
              <a:t>• Plan the model for extreme rarity (243:1) — use lift/PR-AUC as the success metric, not accuracy; use stratified cross-validation.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• Engineer cross-bureau averages, a has-credit-file flag, and recency-window trend features to boost signal before model training.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7863840" cy="68580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r>
              <a:rPr sz="2600" b="1">
                <a:solidFill>
                  <a:srgbClr val="FFFFFF"/>
                </a:solidFill>
              </a:rPr>
              <a:t>Recommended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7680960" cy="347472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C9D4E8"/>
                </a:solidFill>
              </a:rPr>
              <a:t>→  Clean &amp; simplify first: </a:t>
            </a:r>
            <a:r>
              <a:rPr sz="1300" b="0">
                <a:solidFill>
                  <a:srgbClr val="C0CADC"/>
                </a:solidFill>
              </a:rPr>
              <a:t>Apply the sentinel-handling strategy and collapse the 12 safe bureau triplets. This alone reduces the feature space from 71 to ~47 cleaner columns.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D4E8"/>
                </a:solidFill>
              </a:rPr>
              <a:t>→  Build a rare-event propensity model: </a:t>
            </a:r>
            <a:r>
              <a:rPr sz="1300" b="0">
                <a:solidFill>
                  <a:srgbClr val="C0CADC"/>
                </a:solidFill>
              </a:rPr>
              <a:t>Train a response model using stratified cross-validation and PR-AUC. Evaluate with a lift chart — target the top decile for future mailings.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D4E8"/>
                </a:solidFill>
              </a:rPr>
              <a:t>→  Explore the delinquency signal: </a:t>
            </a:r>
            <a:r>
              <a:rPr sz="1300" b="0">
                <a:solidFill>
                  <a:srgbClr val="C0CADC"/>
                </a:solidFill>
              </a:rPr>
              <a:t>The 11 lower-agreement bureau triplets (especially DQOCURNC fields) may reveal bureau-specific late-payment patterns. Test whether keeping all three adds lift.</a:t>
            </a:r>
          </a:p>
          <a:p>
            <a:pPr>
              <a:spcAft>
                <a:spcPts val="1200"/>
              </a:spcAft>
            </a:pPr>
            <a:r>
              <a:rPr sz="1400" b="1">
                <a:solidFill>
                  <a:srgbClr val="C9D4E8"/>
                </a:solidFill>
              </a:rPr>
              <a:t>→  Check with the campaign team on wave stability: </a:t>
            </a:r>
            <a:r>
              <a:rPr sz="1300" b="0">
                <a:solidFill>
                  <a:srgbClr val="C0CADC"/>
                </a:solidFill>
              </a:rPr>
              <a:t>The 0.406%–0.416% wave range is tight but worth a quick conversation — confirm it reflects natural variation, not a list-pull or timing artefact.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663440"/>
            <a:ext cx="7863840" cy="365760"/>
          </a:xfrm>
          <a:prstGeom prst="rect">
            <a:avLst/>
          </a:prstGeom>
          <a:noFill/>
        </p:spPr>
        <p:txBody>
          <a:bodyPr wrap="square" tIns="54864" bIns="54864">
            <a:normAutofit/>
          </a:bodyPr>
          <a:lstStyle/>
          <a:p>
            <a:pPr algn="ctr"/>
            <a:r>
              <a:rPr sz="1100" i="1">
                <a:solidFill>
                  <a:srgbClr val="9AA8C4"/>
                </a:solidFill>
              </a:rPr>
              <a:t>Data is structurally clean and ready — complete the pre-modeling checklist, then proceed to modeling.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7475FABDB7754F9FF50381C508918F" ma:contentTypeVersion="10" ma:contentTypeDescription="Create a new document." ma:contentTypeScope="" ma:versionID="29148ed48be9ea64df027db204fc1c6e">
  <xsd:schema xmlns:xsd="http://www.w3.org/2001/XMLSchema" xmlns:xs="http://www.w3.org/2001/XMLSchema" xmlns:p="http://schemas.microsoft.com/office/2006/metadata/properties" xmlns:ns2="95b248c1-8001-4b31-82a9-b788a71d9657" targetNamespace="http://schemas.microsoft.com/office/2006/metadata/properties" ma:root="true" ma:fieldsID="a57b09182cebf370c1df8ff2537c6380" ns2:_="">
    <xsd:import namespace="95b248c1-8001-4b31-82a9-b788a71d965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Functions" minOccurs="0"/>
                <xsd:element ref="ns2:Skills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b248c1-8001-4b31-82a9-b788a71d96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Functions" ma:index="16" nillable="true" ma:displayName="Function" ma:default="Others" ma:description="Name of Function" ma:format="Dropdown" ma:internalName="Functions" ma:requiredMultiChoice="true">
      <xsd:complexType>
        <xsd:complexContent>
          <xsd:extension base="dms:MultiChoiceFillIn">
            <xsd:sequence>
              <xsd:element name="Value" maxOccurs="unbounded" minOccurs="0" nillable="true">
                <xsd:simpleType>
                  <xsd:union memberTypes="dms:Text">
                    <xsd:simpleType>
                      <xsd:restriction base="dms:Choice">
                        <xsd:enumeration value="Analytics"/>
                        <xsd:enumeration value="Software"/>
                        <xsd:enumeration value="Services"/>
                        <xsd:enumeration value="Others"/>
                      </xsd:restriction>
                    </xsd:simpleType>
                  </xsd:union>
                </xsd:simpleType>
              </xsd:element>
            </xsd:sequence>
          </xsd:extension>
        </xsd:complexContent>
      </xsd:complexType>
    </xsd:element>
    <xsd:element name="Skills" ma:index="17" ma:displayName="Skills" ma:description="Add multiple Tags to filter profile." ma:format="Dropdown" ma:internalName="Skills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Functions xmlns="95b248c1-8001-4b31-82a9-b788a71d9657">
      <Value>Others</Value>
    </Functions>
    <Skills xmlns="95b248c1-8001-4b31-82a9-b788a71d9657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6D0A70-04C4-4860-ACC3-87918A8C21B2}"/>
</file>

<file path=customXml/itemProps2.xml><?xml version="1.0" encoding="utf-8"?>
<ds:datastoreItem xmlns:ds="http://schemas.openxmlformats.org/officeDocument/2006/customXml" ds:itemID="{463C6CA0-EFE3-4D5F-89D3-100397768F24}">
  <ds:schemaRefs>
    <ds:schemaRef ds:uri="http://schemas.microsoft.com/office/2006/metadata/properties"/>
    <ds:schemaRef ds:uri="http://purl.org/dc/elements/1.1/"/>
    <ds:schemaRef ds:uri="http://www.w3.org/XML/1998/namespace"/>
    <ds:schemaRef ds:uri="http://purl.org/dc/terms/"/>
    <ds:schemaRef ds:uri="http://purl.org/dc/dcmitype/"/>
    <ds:schemaRef ds:uri="0d7b015c-56d7-41df-9266-b742764ba8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67853456-3ee1-4edc-9403-335e2be123a6"/>
  </ds:schemaRefs>
</ds:datastoreItem>
</file>

<file path=customXml/itemProps3.xml><?xml version="1.0" encoding="utf-8"?>
<ds:datastoreItem xmlns:ds="http://schemas.openxmlformats.org/officeDocument/2006/customXml" ds:itemID="{758ED48B-B409-48A1-B1E3-BE86ADC325D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1220</TotalTime>
  <Words>82</Words>
  <Application>Microsoft Office PowerPoint</Application>
  <PresentationFormat>On-screen Show (16:9)</PresentationFormat>
  <Paragraphs>29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Zenon Overview</dc:title>
  <dc:subject>PptxGenJS Presentation</dc:subject>
  <dc:creator>Zenon, LLC</dc:creator>
  <cp:lastModifiedBy>Pooja Pandey</cp:lastModifiedBy>
  <cp:revision>6</cp:revision>
  <dcterms:created xsi:type="dcterms:W3CDTF">2026-02-18T19:12:28Z</dcterms:created>
  <dcterms:modified xsi:type="dcterms:W3CDTF">2026-04-29T16:15:18Z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0x010100A17475FABDB7754F9FF50381C508918F</vt:lpwstr>
  </property>
  <property fmtid="{D5CDD505-2E9C-101B-9397-08002B2CF9AE}" pid="3" name="MediaServiceImageTags">
    <vt:lpwstr/>
  </property>
</Properties>
</file>