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40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477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Solution Architecture: What’s </a:t>
            </a:r>
            <a:r>
              <a:rPr lang="en-US" sz="2600" b="1" dirty="0">
                <a:solidFill>
                  <a:srgbClr val="FFFFFF"/>
                </a:solidFill>
              </a:rPr>
              <a:t>Domain Agnostic</a:t>
            </a:r>
            <a:r>
              <a:rPr sz="2600" b="1" i="0" dirty="0">
                <a:solidFill>
                  <a:srgbClr val="FFFFFF"/>
                </a:solidFill>
              </a:rPr>
              <a:t> vs What’s </a:t>
            </a:r>
            <a:r>
              <a:rPr lang="en-US" sz="2600" b="1" dirty="0">
                <a:solidFill>
                  <a:srgbClr val="FFFFFF"/>
                </a:solidFill>
              </a:rPr>
              <a:t>Example Specific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676656"/>
            <a:ext cx="71628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 dirty="0">
                <a:solidFill>
                  <a:srgbClr val="CCD1D9"/>
                </a:solidFill>
              </a:rPr>
              <a:t>Generic components work on any dataset — example-specific facts live only in the run spec (</a:t>
            </a:r>
            <a:r>
              <a:rPr sz="1200" b="0" i="0" dirty="0" err="1">
                <a:solidFill>
                  <a:srgbClr val="CCD1D9"/>
                </a:solidFill>
              </a:rPr>
              <a:t>config.json</a:t>
            </a:r>
            <a:r>
              <a:rPr lang="en-US" sz="1200" b="0" i="0" dirty="0">
                <a:solidFill>
                  <a:srgbClr val="CCD1D9"/>
                </a:solidFill>
              </a:rPr>
              <a:t>/Prompt</a:t>
            </a:r>
            <a:r>
              <a:rPr sz="1200" b="0" i="0" dirty="0">
                <a:solidFill>
                  <a:srgbClr val="CCD1D9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Segment Discovery Demo  |  Zenon AI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1 of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5641848" cy="42062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54589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DOMAIN-AGNOSTIC  —  reusable for any 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591056"/>
            <a:ext cx="5641848" cy="5715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1591056"/>
            <a:ext cx="54864" cy="5715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618488"/>
            <a:ext cx="5440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Agent +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793561"/>
            <a:ext cx="551383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Claude Code runs the segment-discovery skill — orchestrates stages, narrates results, confirms spec with analyst. Path A (guided) and Path B (cold-start) both live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80844"/>
            <a:ext cx="5641848" cy="5715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2180844"/>
            <a:ext cx="54864" cy="5715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208275"/>
            <a:ext cx="2183611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950" b="1" i="0" dirty="0">
                <a:solidFill>
                  <a:srgbClr val="0D2B55"/>
                </a:solidFill>
              </a:rPr>
              <a:t>Tool 1:</a:t>
            </a:r>
            <a:r>
              <a:rPr sz="950" b="1" i="0" dirty="0">
                <a:solidFill>
                  <a:srgbClr val="0D2B55"/>
                </a:solidFill>
              </a:rPr>
              <a:t> Single-feature</a:t>
            </a:r>
            <a:r>
              <a:rPr lang="en-US" sz="950" b="1" i="0" dirty="0">
                <a:solidFill>
                  <a:srgbClr val="0D2B55"/>
                </a:solidFill>
              </a:rPr>
              <a:t> decision tree</a:t>
            </a:r>
            <a:r>
              <a:rPr sz="950" b="1" i="0" dirty="0">
                <a:solidFill>
                  <a:srgbClr val="0D2B55"/>
                </a:solidFill>
              </a:rPr>
              <a:t> cuts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400300"/>
            <a:ext cx="559612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tree_cuts.py — fits depth-2 trees on every feature independently; surfaces BAU and best single-feature thresholds. Always the first stage.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770632"/>
            <a:ext cx="5641848" cy="5715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" y="2770632"/>
            <a:ext cx="54864" cy="5715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798063"/>
            <a:ext cx="2182008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0D2B55"/>
                </a:solidFill>
              </a:rPr>
              <a:t>Tool 2:</a:t>
            </a:r>
            <a:r>
              <a:rPr sz="950" b="1" i="0" dirty="0">
                <a:solidFill>
                  <a:srgbClr val="0D2B55"/>
                </a:solidFill>
              </a:rPr>
              <a:t>  Multi-feature </a:t>
            </a:r>
            <a:r>
              <a:rPr lang="en-US" sz="950" b="1" dirty="0">
                <a:solidFill>
                  <a:srgbClr val="0D2B55"/>
                </a:solidFill>
              </a:rPr>
              <a:t>decision tree</a:t>
            </a:r>
            <a:r>
              <a:rPr sz="950" b="1" i="0" dirty="0">
                <a:solidFill>
                  <a:srgbClr val="0D2B55"/>
                </a:solidFill>
              </a:rPr>
              <a:t> </a:t>
            </a:r>
            <a:r>
              <a:rPr lang="en-US" sz="950" b="1" i="0" dirty="0">
                <a:solidFill>
                  <a:srgbClr val="0D2B55"/>
                </a:solidFill>
              </a:rPr>
              <a:t>cuts</a:t>
            </a:r>
            <a:endParaRPr sz="950" b="1" i="0" dirty="0">
              <a:solidFill>
                <a:srgbClr val="0D2B55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4048" y="2990086"/>
            <a:ext cx="55138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subgroup_search.py — </a:t>
            </a:r>
            <a:r>
              <a:rPr sz="850" b="0" i="0" dirty="0" err="1">
                <a:solidFill>
                  <a:srgbClr val="444E5C"/>
                </a:solidFill>
              </a:rPr>
              <a:t>pysubgroup</a:t>
            </a:r>
            <a:r>
              <a:rPr sz="850" b="0" i="0" dirty="0">
                <a:solidFill>
                  <a:srgbClr val="444E5C"/>
                </a:solidFill>
              </a:rPr>
              <a:t> beam search across thousands of multi-condition rules; ranks by </a:t>
            </a:r>
            <a:r>
              <a:rPr sz="850" b="0" i="0" dirty="0" err="1">
                <a:solidFill>
                  <a:srgbClr val="444E5C"/>
                </a:solidFill>
              </a:rPr>
              <a:t>WRAcc</a:t>
            </a:r>
            <a:r>
              <a:rPr sz="850" b="0" i="0" dirty="0">
                <a:solidFill>
                  <a:srgbClr val="444E5C"/>
                </a:solidFill>
              </a:rPr>
              <a:t> (size × deviation from BAU). The core value-add.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360420"/>
            <a:ext cx="5641848" cy="5715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" y="3360420"/>
            <a:ext cx="54864" cy="5715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3387851"/>
            <a:ext cx="153920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950" b="1" i="0" dirty="0">
                <a:solidFill>
                  <a:srgbClr val="0D2B55"/>
                </a:solidFill>
              </a:rPr>
              <a:t>Tool 3:</a:t>
            </a:r>
            <a:r>
              <a:rPr sz="950" b="1" i="0" dirty="0">
                <a:solidFill>
                  <a:srgbClr val="0D2B55"/>
                </a:solidFill>
              </a:rPr>
              <a:t>  Stability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557017"/>
            <a:ext cx="547725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stability.py — re-checks each top rule within every time/cohort window; flags unstable segments. No-op when no time column is set.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950208"/>
            <a:ext cx="5641848" cy="5715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6032" y="3950208"/>
            <a:ext cx="54864" cy="5715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3977640"/>
            <a:ext cx="1588897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950" b="1" dirty="0">
                <a:solidFill>
                  <a:srgbClr val="0D2B55"/>
                </a:solidFill>
              </a:rPr>
              <a:t>Tool 4:</a:t>
            </a:r>
            <a:r>
              <a:rPr sz="950" b="1" i="0" dirty="0">
                <a:solidFill>
                  <a:srgbClr val="0D2B55"/>
                </a:solidFill>
              </a:rPr>
              <a:t> SHAP driver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169664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drivers.py — gradient-boosted model + SHAP; confirms rules are mechanistically grounded, not data artifacts.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4539996"/>
            <a:ext cx="5641848" cy="5715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" y="4539996"/>
            <a:ext cx="54864" cy="5715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4567428"/>
            <a:ext cx="5440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Orchestrator + PPT builder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713732"/>
            <a:ext cx="5477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run_demo.py chains all stages → outputs/REPORT.md. build_ppt.py generates the branded deck. Both are fully data-agnostic.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5129783"/>
            <a:ext cx="5641848" cy="5715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6032" y="5129783"/>
            <a:ext cx="54864" cy="5715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" y="5157216"/>
            <a:ext cx="5440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JSON run spec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5330952"/>
            <a:ext cx="547725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 err="1">
                <a:solidFill>
                  <a:srgbClr val="444E5C"/>
                </a:solidFill>
              </a:rPr>
              <a:t>spec.template.json</a:t>
            </a:r>
            <a:r>
              <a:rPr sz="850" b="0" i="0" dirty="0">
                <a:solidFill>
                  <a:srgbClr val="444E5C"/>
                </a:solidFill>
              </a:rPr>
              <a:t> defines what to provide (target, features, sentinels…) but never which values. Swap the spec, the rest is unchanged.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91072" y="1170432"/>
            <a:ext cx="5641848" cy="42062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1234440"/>
            <a:ext cx="281038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  EXAMPLE-SPECIFIC  —  </a:t>
            </a:r>
            <a:r>
              <a:rPr sz="1100" b="1" i="0" dirty="0" err="1">
                <a:solidFill>
                  <a:srgbClr val="FFFFFF"/>
                </a:solidFill>
              </a:rPr>
              <a:t>config.json</a:t>
            </a:r>
            <a:r>
              <a:rPr sz="1100" b="1" i="0" dirty="0">
                <a:solidFill>
                  <a:srgbClr val="FFFFFF"/>
                </a:solidFill>
              </a:rPr>
              <a:t> / prompt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1591056"/>
            <a:ext cx="5641848" cy="731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91072" y="1591056"/>
            <a:ext cx="54864" cy="731519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19088" y="1618488"/>
            <a:ext cx="5440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Data file +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1828800"/>
            <a:ext cx="54681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Sample_Data.csv (100k prospects) + BEST_Data_Dictionary.xlsx. Any CSV or Excel file slots in — the tools don't care about column names.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2340864"/>
            <a:ext cx="5641848" cy="731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91072" y="2340864"/>
            <a:ext cx="54864" cy="731519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19088" y="2368296"/>
            <a:ext cx="5440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Target derivation rule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2578608"/>
            <a:ext cx="54681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How to construct the 0/1 outcome: e.g. responded = 1 where BCP_APPLICATION_ID is not null. Three derivation modes supported in the spec.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3090672"/>
            <a:ext cx="5641848" cy="731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91072" y="3090672"/>
            <a:ext cx="54864" cy="731519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19088" y="3118103"/>
            <a:ext cx="5440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Feature 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3328415"/>
            <a:ext cx="55138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Which attributes to use as predictors — e.g. 26 EFX bureau attributes + FICO + Income. Null = auto-select. Selection logic lives in the spec, not the tools.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3840480"/>
            <a:ext cx="5641848" cy="731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91072" y="3840480"/>
            <a:ext cx="54864" cy="731519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19088" y="3867912"/>
            <a:ext cx="5440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Missing / sentinel codes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9088" y="4096512"/>
            <a:ext cx="54681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Dataset-specific invalid values (e.g. 997, 998, 999, 9999997–9999999) read from the dictionary and listed in the spec. Cleaned to </a:t>
            </a:r>
            <a:r>
              <a:rPr sz="850" b="0" i="0" dirty="0" err="1">
                <a:solidFill>
                  <a:srgbClr val="444E5C"/>
                </a:solidFill>
              </a:rPr>
              <a:t>NaN</a:t>
            </a:r>
            <a:r>
              <a:rPr sz="850" b="0" i="0" dirty="0">
                <a:solidFill>
                  <a:srgbClr val="444E5C"/>
                </a:solidFill>
              </a:rPr>
              <a:t> before any analysis.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91072" y="4590288"/>
            <a:ext cx="5641848" cy="731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291072" y="4590288"/>
            <a:ext cx="54864" cy="731519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19088" y="4617720"/>
            <a:ext cx="5440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Leakage exclusions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4846320"/>
            <a:ext cx="54223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44E5C"/>
                </a:solidFill>
              </a:rPr>
              <a:t>Post-outcome columns that must never be features: e.g. BCP_ACCOUNT_ID, BCP_APPLICATION_RECEIVED_DATE, PV. Analyst identifies these; agent flags candidates.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91072" y="5340096"/>
            <a:ext cx="5641848" cy="731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291072" y="5340096"/>
            <a:ext cx="54864" cy="731519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19088" y="5367528"/>
            <a:ext cx="5440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Time / stability column + labels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9088" y="5518404"/>
            <a:ext cx="54681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Which column defines mailing waves / cohorts (e.g. SOLICITATION_ID). Also: business-friendly segment names and SHAP interpretations are added post-analysis.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53328" y="1170432"/>
            <a:ext cx="45720" cy="495604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56032" y="6172200"/>
            <a:ext cx="11676888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623620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Today: analyst writes config.json manually (Path A)     →     Next: Path B automates every orange item above — see Slide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Next Steps: Path B — Cold-Start Without Any User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76656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1D9"/>
                </a:solidFill>
              </a:rPr>
              <a:t>Six capabilities to build so the agent figures out the setup itself when no config is provided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Segment Discovery Demo  |  Zenon AI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2 of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207008"/>
            <a:ext cx="3749039" cy="2148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" y="1207008"/>
            <a:ext cx="3749039" cy="42062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280160"/>
            <a:ext cx="274320" cy="2743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271016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298448"/>
            <a:ext cx="32186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Auto-Inspect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1682496"/>
            <a:ext cx="354787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E5C"/>
                </a:solidFill>
              </a:rPr>
              <a:t>Scans the dataset automatically — detects column types, null rates, cardinality, ID-like and date-like fields. No human column review needed before starting.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2880360"/>
            <a:ext cx="3749039" cy="47548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898648"/>
            <a:ext cx="3584447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0D2B55"/>
                </a:solidFill>
              </a:rPr>
              <a:t>Replaces:  Manual column audit before writing config.json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1207008"/>
            <a:ext cx="3749039" cy="2148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87952" y="1207008"/>
            <a:ext cx="3749039" cy="42062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9392" y="1280160"/>
            <a:ext cx="274320" cy="2743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1271016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298448"/>
            <a:ext cx="32186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Dictionary 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1" y="1682496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E5C"/>
                </a:solidFill>
              </a:rPr>
              <a:t>Reads any data dictionary (xlsx/csv) to auto-extract sentinel codes, metric types, and attribute categories. Sentinel list populates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2" y="2880360"/>
            <a:ext cx="3749039" cy="47548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9392" y="2898648"/>
            <a:ext cx="3584447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0D2B55"/>
                </a:solidFill>
              </a:rPr>
              <a:t>Replaces:  Manually reading the dictionary and hand-entering sentinel codes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1207008"/>
            <a:ext cx="3749039" cy="2148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83296" y="1207008"/>
            <a:ext cx="3749039" cy="42062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74736" y="1280160"/>
            <a:ext cx="274320" cy="2743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74736" y="1271016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1298448"/>
            <a:ext cx="32186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Target + Leakage Detector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1682496"/>
            <a:ext cx="351129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44E5C"/>
                </a:solidFill>
              </a:rPr>
              <a:t>Heuristics to identify the most plausible outcome column (</a:t>
            </a:r>
            <a:r>
              <a:rPr sz="900" b="0" i="0" dirty="0" err="1">
                <a:solidFill>
                  <a:srgbClr val="444E5C"/>
                </a:solidFill>
              </a:rPr>
              <a:t>from_notnull</a:t>
            </a:r>
            <a:r>
              <a:rPr sz="900" b="0" i="0" dirty="0">
                <a:solidFill>
                  <a:srgbClr val="444E5C"/>
                </a:solidFill>
              </a:rPr>
              <a:t> candidates), and flag IDs, dates, and downstream scores as leakage to exclude.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2880360"/>
            <a:ext cx="3749039" cy="47548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74736" y="2898648"/>
            <a:ext cx="3584447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0D2B55"/>
                </a:solidFill>
              </a:rPr>
              <a:t>Replaces:  Manual target selection and exclude_columns specification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" y="3520440"/>
            <a:ext cx="3749039" cy="2148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92608" y="3520440"/>
            <a:ext cx="3749039" cy="420624"/>
          </a:xfrm>
          <a:prstGeom prst="rect">
            <a:avLst/>
          </a:prstGeom>
          <a:solidFill>
            <a:srgbClr val="005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84048" y="3593592"/>
            <a:ext cx="274320" cy="2743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358444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611880"/>
            <a:ext cx="32186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Domain Research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" y="3995928"/>
            <a:ext cx="3547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E5C"/>
                </a:solidFill>
              </a:rPr>
              <a:t>Web-searches the problem type (DM suppression, churn, fraud, NBO…) to recommend additional data sources and features not yet in the file.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5193792"/>
            <a:ext cx="3749039" cy="47548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5212080"/>
            <a:ext cx="3584447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0D2B55"/>
                </a:solidFill>
              </a:rPr>
              <a:t>Replaces:  Analyst's domain knowledge about what features to pull and from where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87952" y="3520440"/>
            <a:ext cx="3749039" cy="2148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87952" y="3520440"/>
            <a:ext cx="3749039" cy="420624"/>
          </a:xfrm>
          <a:prstGeom prst="rect">
            <a:avLst/>
          </a:prstGeom>
          <a:solidFill>
            <a:srgbClr val="005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79392" y="3593592"/>
            <a:ext cx="274320" cy="2743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79392" y="358444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6864" y="3611880"/>
            <a:ext cx="32186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Auto Spec Writer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3995928"/>
            <a:ext cx="356615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E5C"/>
                </a:solidFill>
              </a:rPr>
              <a:t>Agent synthesises steps 1–4 into a proposed config.json and presents it to the analyst for one-step approval. One confirm → agent runs all stages.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7952" y="5193792"/>
            <a:ext cx="3749039" cy="47548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79392" y="5212080"/>
            <a:ext cx="3584447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0D2B55"/>
                </a:solidFill>
              </a:rPr>
              <a:t>Replaces:  Entire manual config authoring process (Path 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83296" y="3520440"/>
            <a:ext cx="3749039" cy="2148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83296" y="3520440"/>
            <a:ext cx="3749039" cy="420624"/>
          </a:xfrm>
          <a:prstGeom prst="rect">
            <a:avLst/>
          </a:prstGeom>
          <a:solidFill>
            <a:srgbClr val="005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174736" y="3593592"/>
            <a:ext cx="274320" cy="2743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74736" y="358444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22208" y="3611880"/>
            <a:ext cx="32186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Multi-Agent + Memory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3" y="3995928"/>
            <a:ext cx="359346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E5C"/>
                </a:solidFill>
              </a:rPr>
              <a:t>Parallelises explorer / scorer / validator / narrator as independent sub-agents. Persists accepted segment rules across campaigns — no re-discovery each cycle.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83296" y="5193792"/>
            <a:ext cx="3749039" cy="47548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74736" y="5212080"/>
            <a:ext cx="3584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0D2B55"/>
                </a:solidFill>
              </a:rPr>
              <a:t>Replaces:  Sequential single-agent execution; re-running full discovery every campaign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" y="5870448"/>
            <a:ext cx="11603736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2920" y="5943600"/>
            <a:ext cx="11201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End state:  drop in any dataset + say what you're trying to find  →  the agent inspects, researches, proposes a spec, confirms, and runs — no config authoring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857</Words>
  <Application>Microsoft Office PowerPoint</Application>
  <PresentationFormat>Custom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Adarsh Kuthuru</cp:lastModifiedBy>
  <cp:revision>4</cp:revision>
  <dcterms:created xsi:type="dcterms:W3CDTF">2013-01-27T09:14:16Z</dcterms:created>
  <dcterms:modified xsi:type="dcterms:W3CDTF">2026-07-01T15:19:22Z</dcterms:modified>
  <cp:category/>
</cp:coreProperties>
</file>