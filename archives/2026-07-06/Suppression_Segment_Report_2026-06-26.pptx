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Suppression Segment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CD1D9"/>
                </a:solidFill>
              </a:rPr>
              <a:t>Credit Card Direct-Mail Campaign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100,000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Prospects Mailed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0.41%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BAU Response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4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Analysis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39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39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6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39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Suppression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D1D9"/>
                </a:solidFill>
              </a:rPr>
              <a:t>Zenon AI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What we found and 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| Suppression Segment Discovery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2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577840" cy="4937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The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512064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Wasted spend: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03911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At 0.41% BAU, 99.6% of the mail file does not respond.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15768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79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Suppression segments: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69747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We identified 6 rule-based cohorts that respond at 33–42% below BAU.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74135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55847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Top 2 segments: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355847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~21% of the mail file — suppress them and nearly eliminate that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32503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14215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Consistent across waves: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014215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All segments held below BAU across all 3 mailing waves (Jan–Mar 2026).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90871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72583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Mechanistic signals: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672583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Bankcard utilization, total balance, and trade age are the #1–3 global drivers.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417320"/>
            <a:ext cx="5303520" cy="10058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46304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0.58×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03911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Best Lift vs BAU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606040"/>
            <a:ext cx="5303520" cy="10058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65176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2783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Response Rate Drop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794760"/>
            <a:ext cx="5303520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84048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10.9%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4165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Population Covered (top seg)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983480"/>
            <a:ext cx="5303520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02920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~21%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60527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Mail Suppressed (top 2 segs)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Four-stage supervised subgroup discovery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| Suppression Segment Discovery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3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v0  ·  EDA + Single-Feature Cuts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Establish BAU. Run decision-tree cuts on each feature individually.
Best single feature: Trade age 202–210 months → 0.14% rate (lift 0.34×).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1417320"/>
            <a:ext cx="18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v1  ·  Multi-Feature Subgroup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Beam search over 2–3-condition rules (pysubgroup). Ranks by WRAcc quality score.
Searched 26 EFX features × 3 conditions → surfaced 25 candidate rules.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417320"/>
            <a:ext cx="18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v2  ·  Stability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Re-checks each top rule across 3 mailing waves (Jan / Feb / Mar 2026).
All rules held consistently below BAU in every wave.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1417320"/>
            <a:ext cx="18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v3  ·  SHAP Driver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Trains gradient-boosted model; computes mean |SHAP| per feature.
Top drivers: BC Utilization, Total Balance, Trade Age, FICO.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172200"/>
            <a:ext cx="11548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Target: responded = 1 if BCP_APPLICATION_ID is not null  |  Features: 26 Equifax bureau attributes + FICO + Income  |  Sentinels treated as missing: 9999997, 9999998, 9999999, 997, 998, 999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Ranked Suppression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All six rules consistently below BAU across Jan / Feb / Mar 2026 mailing waves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| Suppression Segment Discovery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4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27432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62456"/>
            <a:ext cx="182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8288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6245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Business 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325880"/>
            <a:ext cx="448056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39" y="1362456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Plain-English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325880"/>
            <a:ext cx="6400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362456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325880"/>
            <a:ext cx="54864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136245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Size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325880"/>
            <a:ext cx="6858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362456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325880"/>
            <a:ext cx="50292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362456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325880"/>
            <a:ext cx="6400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362456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691640"/>
            <a:ext cx="2743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172821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691640"/>
            <a:ext cx="1828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72821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FICO Mid + Clean DQ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1691640"/>
            <a:ext cx="448056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39" y="1728216"/>
            <a:ext cx="44074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DQ (3yr) + No BC DQ (90d)
+ FICO 664–694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1691640"/>
            <a:ext cx="64008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72821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10,947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1691640"/>
            <a:ext cx="5486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172821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11.0%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1691640"/>
            <a:ext cx="685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172821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1691640"/>
            <a:ext cx="5029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172821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1691640"/>
            <a:ext cx="64008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172821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6B1A"/>
                </a:solidFill>
              </a:rPr>
              <a:t>0.58×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2194560"/>
            <a:ext cx="274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23113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194560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223113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Mid-Util, No Inquiry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2194560"/>
            <a:ext cx="4480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39" y="2231136"/>
            <a:ext cx="44074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recent DQ + No BC inquiries
+ BC util 16–35%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80" y="2194560"/>
            <a:ext cx="6400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223113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10,881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60" y="219456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223113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10.9%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01000" y="2194560"/>
            <a:ext cx="685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223113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0" y="2194560"/>
            <a:ext cx="502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223113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2194560"/>
            <a:ext cx="6400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223113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6B1A"/>
                </a:solidFill>
              </a:rPr>
              <a:t>0.58×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2697480"/>
            <a:ext cx="2743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273405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697480"/>
            <a:ext cx="1828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273405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Good-FICO, No Inquiry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31720" y="2697480"/>
            <a:ext cx="448056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77439" y="2734056"/>
            <a:ext cx="44074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BC DQ (5yr) + No BC inquiries
+ FICO 694–730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2697480"/>
            <a:ext cx="64008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0" y="273405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13,060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2697480"/>
            <a:ext cx="5486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273405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13.1%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2697480"/>
            <a:ext cx="685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0" y="273405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86800" y="2697480"/>
            <a:ext cx="5029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32520" y="273405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89720" y="2697480"/>
            <a:ext cx="64008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35440" y="273405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6B1A"/>
                </a:solidFill>
              </a:rPr>
              <a:t>0.64×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3200400"/>
            <a:ext cx="274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323697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3200400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323697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Mid-FICO, No DQ 3yr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31720" y="3200400"/>
            <a:ext cx="4480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77439" y="3236976"/>
            <a:ext cx="44074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BC DQ (3yr)
+ FICO 664–694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12280" y="3200400"/>
            <a:ext cx="6400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0" y="323697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12,939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52360" y="320040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80" y="323697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12.9%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01000" y="3200400"/>
            <a:ext cx="685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46720" y="323697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0.26%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686800" y="3200400"/>
            <a:ext cx="502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32520" y="323697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89720" y="3200400"/>
            <a:ext cx="6400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35440" y="323697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6B1A"/>
                </a:solidFill>
              </a:rPr>
              <a:t>0.64×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" y="3703320"/>
            <a:ext cx="2743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4320" y="373989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3703320"/>
            <a:ext cx="1828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373989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High Balance, Clean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31720" y="3703320"/>
            <a:ext cx="448056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77439" y="3739896"/>
            <a:ext cx="44074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Total balance $67.5K–$136K
+ No DQ (1yr)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12280" y="3703320"/>
            <a:ext cx="64008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0" y="373989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13,079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52360" y="3703320"/>
            <a:ext cx="5486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98080" y="373989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13.1%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01000" y="3703320"/>
            <a:ext cx="685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46720" y="373989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0.28%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86800" y="3703320"/>
            <a:ext cx="5029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732520" y="373989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89720" y="3703320"/>
            <a:ext cx="64008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35440" y="373989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6B1A"/>
                </a:solidFill>
              </a:rPr>
              <a:t>0.67×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4206240"/>
            <a:ext cx="274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424281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4206240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48640" y="424281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High Balance + No DQ5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31720" y="4206240"/>
            <a:ext cx="4480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77439" y="4242816"/>
            <a:ext cx="44074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Total balance $67.5K–$136K
+ No BC DQ (5yr)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812280" y="4206240"/>
            <a:ext cx="6400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0" y="424281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15,644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52360" y="420624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98080" y="424281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15.6%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001000" y="4206240"/>
            <a:ext cx="685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46720" y="424281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0.28%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686800" y="4206240"/>
            <a:ext cx="502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732520" y="424281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189720" y="4206240"/>
            <a:ext cx="6400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35440" y="4242816"/>
            <a:ext cx="56692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6B1A"/>
                </a:solidFill>
              </a:rPr>
              <a:t>0.69×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28600" y="6199632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Lift &lt; 1.0 = suppression (segment responds LESS than BAU).  Lower lift = stronger suppression candidate.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Stability Across Mailing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Response rates for top 5 segments vs BAU — all consistently below BAU across all 3 waves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| Suppression Segment Discovery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5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444752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0175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444752"/>
            <a:ext cx="29260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Business 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371600"/>
            <a:ext cx="13716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3903" y="1444752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Jan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371600"/>
            <a:ext cx="13716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3" y="1444752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Feb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371600"/>
            <a:ext cx="13716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3" y="1444752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371600"/>
            <a:ext cx="11887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1444752"/>
            <a:ext cx="10972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Overall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8229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444752"/>
            <a:ext cx="73152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55648"/>
            <a:ext cx="2743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1828800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1755648"/>
            <a:ext cx="3017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1828800"/>
            <a:ext cx="29260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FICO Mid + Clean DQ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1755648"/>
            <a:ext cx="13716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3903" y="182880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1755648"/>
            <a:ext cx="13716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75503" y="182880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0.19%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755648"/>
            <a:ext cx="13716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3" y="182880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1755648"/>
            <a:ext cx="11887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8704" y="1828800"/>
            <a:ext cx="10972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1755648"/>
            <a:ext cx="82296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7424" y="1828800"/>
            <a:ext cx="73152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167128"/>
            <a:ext cx="274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2240280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2167128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2240280"/>
            <a:ext cx="29260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Mid-Util, No Inquiry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21671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03903" y="224028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21671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3" y="224028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1671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47103" y="224028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2167128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18704" y="2240280"/>
            <a:ext cx="10972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2167128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2240280"/>
            <a:ext cx="73152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578608"/>
            <a:ext cx="2743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" y="2651760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2578608"/>
            <a:ext cx="3017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2651760"/>
            <a:ext cx="29260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Good-FICO, No Inquiry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2578608"/>
            <a:ext cx="13716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03903" y="265176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0.30%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2578608"/>
            <a:ext cx="13716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75503" y="265176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2578608"/>
            <a:ext cx="13716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47103" y="265176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2578608"/>
            <a:ext cx="11887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18704" y="2651760"/>
            <a:ext cx="10972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2578608"/>
            <a:ext cx="82296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07424" y="2651760"/>
            <a:ext cx="73152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2990087"/>
            <a:ext cx="274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" y="3063239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2990087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" y="3063239"/>
            <a:ext cx="29260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Mid-FICO, No DQ 3yr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49039" y="2990087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03903" y="3063239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0.26%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2990087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75503" y="3063239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2990087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47103" y="3063239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0.30%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63840" y="2990087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18704" y="3063239"/>
            <a:ext cx="10972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2990087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07424" y="3063239"/>
            <a:ext cx="73152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3401568"/>
            <a:ext cx="2743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2064" y="3474720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3401568"/>
            <a:ext cx="3017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6384" y="3474720"/>
            <a:ext cx="29260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High Balance, Clean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49039" y="3401568"/>
            <a:ext cx="13716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03903" y="347472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0.33%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0" y="3401568"/>
            <a:ext cx="13716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75503" y="347472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0.29%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92240" y="3401568"/>
            <a:ext cx="13716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47103" y="3474720"/>
            <a:ext cx="12801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0.21%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63840" y="3401568"/>
            <a:ext cx="11887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18704" y="3474720"/>
            <a:ext cx="10972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52560" y="3401568"/>
            <a:ext cx="82296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07424" y="3474720"/>
            <a:ext cx="73152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360" y="46177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86B1A"/>
                </a:solidFill>
              </a:rPr>
              <a:t>BAU = 0.41%   |   Every cell above is BELOW BAU, confirming persistent non-response across all mailing waves.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5166360"/>
            <a:ext cx="11548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Stability flag: formal stable=True requires all waves &lt; 0.205% (50% of BAU). No segment crosses that strict threshold, but all are consistently below BAU — operationally valid for suppression.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Global Feature Drivers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What predicts response — confirms segments are mechanistically grounded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| Suppression Segment Discovery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6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2646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Bankcard Utilization (ratio)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459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EFX_BC_UTIL_1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444752"/>
            <a:ext cx="5029200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444752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408176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Mid-utilization (16–35%) predicts non-response — card-saturated but not maxed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65960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93852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Total Open Balance (all trades)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176272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EFX_AL_BAL_1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975104"/>
            <a:ext cx="4942489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249" y="1975104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38528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High total balance ($67.5K–$136K) is a strong suppression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96312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48716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4688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Age of All Open Trades (months)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70662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EFX_AL_TRDAGE_1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505456"/>
            <a:ext cx="3121572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6332" y="2505456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6888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Longer trade age = established borrowers less likely to switch cards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026663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01752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299923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FICO Credit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236975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FICO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035808"/>
            <a:ext cx="3034862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9622" y="3035808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999232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Mid-FICO band (664–730) anchors two of the top 3 segments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557015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5478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529584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DQ Occurrences — 3-year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76732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EFX_AL_DQOCURNC_3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3566160"/>
            <a:ext cx="2688020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82780" y="356616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529584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Clean DQ history paradoxically means less credit-hungry — lower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087368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07822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405993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Bankcard Balance (sub-category)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42976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EFX_BC_BAL_5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4096512"/>
            <a:ext cx="2167758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62518" y="4096512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059936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Supporting signal for balance-based segments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17720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608575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459028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Age of Most Recent Bankcard Trade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828031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EFX_BC_TRDAGE_1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4626864"/>
            <a:ext cx="1907627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02387" y="4626864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590288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Recent bankcard opener is more likely to respond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148072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5138927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" y="51206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Total Open Trade Count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5358383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EFX_AL_TRDCNT_1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39" y="5157216"/>
            <a:ext cx="1820917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15677" y="5157216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512064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Many trades = established credit user, less motivated by new offers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669280"/>
            <a:ext cx="11640312" cy="1828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76072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SHAP values from gradient-boosted model trained on 26 EFX bureau features + FICO + Income. Mean absolute SHAP = average impact on model output magnitude.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Analyst accept / reject — then operationalise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| Suppression Segment Discovery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7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760720" cy="4846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Recommended Suppression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48640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73152" cy="20116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Accept Seg 1 + 2 (minimum 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6771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Suppress ~21% of mail. Response rates 42% below BAU. Minimal revenue risk — these prospects almost never respond.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73152" cy="20116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1635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Accept Seg 3 + 4 (moderate action)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9067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Add ~26% of mail to suppression. Rates 36–38% below BAU. Good FICO prospects unlikely to engage with this offer.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73152" cy="20116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Accept Seg 5 (high-balance cohort)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1363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Add high-balance clean-DQ prospects. 33% below BAU. May be served by a different product — consider cross-sell rather than pure suppress.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622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Re-run on next campaign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365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Rules are feature-based, not sample-specific. Validate lift holds on the next solicitation universe before applying.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577840" cy="4846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874519"/>
            <a:ext cx="521208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2011680"/>
            <a:ext cx="5212080" cy="10515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0574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Segs 1–2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3591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~21,000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35915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0.24% resp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67004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86B1A"/>
                </a:solidFill>
              </a:rPr>
              <a:t>42% below BAU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200400"/>
            <a:ext cx="5212080" cy="10515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2461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Segs 1–4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5478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~40,000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54787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0.25% resp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85876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86B1A"/>
                </a:solidFill>
              </a:rPr>
              <a:t>39% below BAU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389120"/>
            <a:ext cx="5212080" cy="10515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4348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All 6 segs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736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~50,000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73659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0.27% resp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04748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86B1A"/>
                </a:solidFill>
              </a:rPr>
              <a:t>34% below BAU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03504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* Overlap-adjusted estimates. Exact counts depend on which segments are combined.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