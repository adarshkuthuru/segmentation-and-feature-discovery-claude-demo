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76672"/>
            <a:ext cx="12188952" cy="1481328"/>
          </a:xfrm>
          <a:prstGeom prst="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Credit Card Direct 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AACCFF"/>
                </a:solidFill>
              </a:rPr>
              <a:t>Suppression Segment Discovery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80360"/>
            <a:ext cx="4114800" cy="54864"/>
          </a:xfrm>
          <a:prstGeom prst="rect">
            <a:avLst/>
          </a:prstGeom>
          <a:solidFill>
            <a:srgbClr val="E6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DFF"/>
                </a:solidFill>
              </a:rPr>
              <a:t>Identifying non-responder cohorts to remove from future mail waves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32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Prepared: June 26,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5532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AACC"/>
                </a:solidFill>
              </a:rPr>
              <a:t>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88AA"/>
                </a:solidFill>
              </a:rPr>
              <a:t>Powered by Supervised Subgroup Discovery  ·  Tri-bureau credit attributes  ·  100,000 solicited prospects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Key findings across 100,000 solicited prospects · 3-wave direct mail campaign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A"/>
                </a:solidFill>
              </a:rPr>
              <a:t>CONFIDENTIAL  |  Credit Card DM Suppression  |  June 26, 2026  |  Page 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2560320" cy="118872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16152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Campaign Base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490472"/>
            <a:ext cx="24688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A6A7A"/>
                </a:solidFill>
              </a:rPr>
              <a:t>0.41%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1143000"/>
            <a:ext cx="2560320" cy="118872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1216152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Top Segment Lift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490472"/>
            <a:ext cx="24688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</a:rPr>
              <a:t>0.58×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1143000"/>
            <a:ext cx="2560320" cy="118872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216152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Mail Savings (Top 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1490472"/>
            <a:ext cx="24688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7A3C"/>
                </a:solidFill>
              </a:rPr>
              <a:t>33.8%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41080" y="1143000"/>
            <a:ext cx="3246120" cy="118872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19" y="1216152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Responders Retained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1490472"/>
            <a:ext cx="3154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05CA8"/>
                </a:solidFill>
              </a:rPr>
              <a:t>78.3%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606040"/>
            <a:ext cx="11640312" cy="36576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2743200"/>
            <a:ext cx="1164031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76148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🎯 Suppression Opportunity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03580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7A"/>
                </a:solidFill>
              </a:rPr>
              <a:t>5 validated segments totalling 33,777 prospects (33.8% of the mailing file) respond consistently below the campaign BAU in all three mail waves (Jan, Feb, Mar 2026). Suppressing these records saves one-third of mailing costs while retaining 78.3% of all responses.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035808"/>
            <a:ext cx="11640312" cy="658368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072384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7A"/>
                </a:solidFill>
              </a:rPr>
              <a:t>5 validated segments totalling 33,777 prospects (33.8% of the mailing file) respond consistently below the campaign BAU in all three mail waves (Jan, Feb, Mar 2026). Suppressing these records saves one-third of mailing costs while retaining 78.3% of all responses.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767328"/>
            <a:ext cx="1164031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785615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📊 What Drives Non-Response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059936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7A"/>
                </a:solidFill>
              </a:rPr>
              <a:t>SHAP analysis confirms the top 5 predictors are: bankcard utilization, total open balance, trade age, FICO score, and delinquency recurrence. The suppression profile is a 'passively creditworthy' prospect: mid-FICO (664–730), no recent inquiries, modest utilization — already credit-satisfied and unlikely to act on a solicitation.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059936"/>
            <a:ext cx="11640312" cy="658368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09651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7A"/>
                </a:solidFill>
              </a:rPr>
              <a:t>SHAP analysis confirms the top 5 predictors are: bankcard utilization, total open balance, trade age, FICO score, and delinquency recurrence. The suppression profile is a 'passively creditworthy' prospect: mid-FICO (664–730), no recent inquiries, modest utilization — already credit-satisfied and unlikely to act on a solicitation.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791456"/>
            <a:ext cx="1164031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809744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✅ Stability Validated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084064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7A"/>
                </a:solidFill>
              </a:rPr>
              <a:t>All 5 segments hold below BAU across every drop wave. Response rates range 0.23%–0.26% vs a 0.41% population baseline, representing a 37–43% relative reduction. Rules are simple (2–3 bureau conditions) and immediately operationalisable in pre-screen or address-file logic.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084064"/>
            <a:ext cx="11640312" cy="658368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1206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7A"/>
                </a:solidFill>
              </a:rPr>
              <a:t>All 5 segments hold below BAU across every drop wave. Response rates range 0.23%–0.26% vs a 0.41% population baseline, representing a 37–43% relative reduction. Rules are simple (2–3 bureau conditions) and immediately operationalisable in pre-screen or address-file logic.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Campaign Baseline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100,000 prospects · Tri-bureau (EFX/EXP/TRU) credit attributes · 4-stage analytical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A"/>
                </a:solidFill>
              </a:rPr>
              <a:t>CONFIDENTIAL  |  Credit Card DM Suppression  |  June 26, 2026  |  Page 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029200" cy="534924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502920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1155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CAMPAIGN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</a:rPr>
              <a:t>Population: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600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A"/>
                </a:solidFill>
              </a:rPr>
              <a:t>100,000 solicited prospects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984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</a:rPr>
              <a:t>Target variable: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19842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A"/>
                </a:solidFill>
              </a:rPr>
              <a:t>responded = BCP_APPLICATION_ID not null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3682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</a:rPr>
              <a:t>Responders: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3682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A"/>
                </a:solidFill>
              </a:rPr>
              <a:t>410 prospects (0.41% BAU)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27523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</a:rPr>
              <a:t>Bookers: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7523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A"/>
                </a:solidFill>
              </a:rPr>
              <a:t>84 prospects (0.084% booking rate)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13639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</a:rPr>
              <a:t>Mail waves: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136391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A"/>
                </a:solidFill>
              </a:rPr>
              <a:t>3 drop dates (Jan 6, Feb 10, Mar 10, 2026)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5204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</a:rPr>
              <a:t>Bureau coverage: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52043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A"/>
                </a:solidFill>
              </a:rPr>
              <a:t>Equifax · Experian · TransUnion (26 EFX features used)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90448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</a:rPr>
              <a:t>Sentinel codes: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904487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A"/>
                </a:solidFill>
              </a:rPr>
              <a:t>Treated as missing: 9999997/98/99, 997/98/99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2885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</a:rPr>
              <a:t>Direction: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28853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A"/>
                </a:solidFill>
              </a:rPr>
              <a:t>SUPPRESSION — find low-response cohorts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1097280"/>
            <a:ext cx="6245352" cy="5349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0" y="1097280"/>
            <a:ext cx="6245352" cy="411480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5000" y="111556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4-STAGE ANALYTICAL PIPELINE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1600200"/>
            <a:ext cx="502920" cy="822960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17830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16184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</a:rPr>
              <a:t>One-Feature Tree Cuts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1892807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A"/>
                </a:solidFill>
              </a:rPr>
              <a:t>Decision-tree splits on each variable independently. Establishes single-feature suppression thresholds; reveals which attributes show any signal at 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2441448"/>
            <a:ext cx="9144" cy="274320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60720" y="2788920"/>
            <a:ext cx="502920" cy="822960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0" y="29718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280720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</a:rPr>
              <a:t>Multi-Feature Subgroup Search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3081527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A"/>
                </a:solidFill>
              </a:rPr>
              <a:t>Beam search over all 2–3 condition rule combinations (pysubgroup). Finds segments the manual loop misses. Ranked by quality × size × suppression depth.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3630168"/>
            <a:ext cx="9144" cy="274320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760720" y="3977639"/>
            <a:ext cx="502920" cy="822960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0" y="41605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3995927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</a:rPr>
              <a:t>Stability Validation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4270248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A"/>
                </a:solidFill>
              </a:rPr>
              <a:t>Each top rule re-evaluated within each mail wave. Confirms segments are directionally below BAU across all three drop dates — not a one-wave artefact.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720" y="4818888"/>
            <a:ext cx="9144" cy="274320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760720" y="5166359"/>
            <a:ext cx="502920" cy="822960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0" y="53492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5184647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</a:rPr>
              <a:t>SHAP Driver Analysis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5458968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A"/>
                </a:solidFill>
              </a:rPr>
              <a:t>XGBoost + TreeSHAP over all features. Identifies the global levers that explain non-response. Validates that segment conditions map to mechanistically sensible drivers.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Top 5 Validated Suppression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All 5 segments hold below BAU in every mail wave · V1 multi-feature subgroup search · ranked by suppression depth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A"/>
                </a:solidFill>
              </a:rPr>
              <a:t>CONFIDENTIAL  |  Credit Card DM Suppression  |  June 26, 2026  |  Page 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36576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1133856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097280"/>
            <a:ext cx="502920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133856"/>
            <a:ext cx="4919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Segment Rule (plain English)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097280"/>
            <a:ext cx="77724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24144" y="1133856"/>
            <a:ext cx="667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Size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097280"/>
            <a:ext cx="68580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3" y="1133856"/>
            <a:ext cx="576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% of File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1097280"/>
            <a:ext cx="77724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3" y="1133856"/>
            <a:ext cx="667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Resp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0" y="1097280"/>
            <a:ext cx="59436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4" y="1133856"/>
            <a:ext cx="484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BAU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1097280"/>
            <a:ext cx="68580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58784" y="1133856"/>
            <a:ext cx="576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Lift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1097280"/>
            <a:ext cx="987552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44584" y="1133856"/>
            <a:ext cx="877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444752"/>
            <a:ext cx="365760" cy="7132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1645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1444752"/>
            <a:ext cx="5029200" cy="71323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1481328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A"/>
                </a:solidFill>
              </a:rPr>
              <a:t>No long-term DQ (all trades) +
No bankcard DQ mid-term +
FICO 664–694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1444752"/>
            <a:ext cx="777240" cy="71323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05856" y="1627632"/>
            <a:ext cx="704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10,947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1444752"/>
            <a:ext cx="685800" cy="71323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1627632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10.95%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1444752"/>
            <a:ext cx="777240" cy="71323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68896" y="1627632"/>
            <a:ext cx="704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0.24%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09560" y="1444752"/>
            <a:ext cx="594360" cy="71323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46136" y="1627632"/>
            <a:ext cx="521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0.41%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1444752"/>
            <a:ext cx="685800" cy="71323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0496" y="1627632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392B"/>
                </a:solidFill>
              </a:rPr>
              <a:t>0.58×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1444752"/>
            <a:ext cx="987552" cy="71323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0" y="1554480"/>
            <a:ext cx="896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✓ STABLE
(all 3 waves)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2194560"/>
            <a:ext cx="365760" cy="7132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23957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2194560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" y="2231136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A"/>
                </a:solidFill>
              </a:rPr>
              <a:t>No recent DQ (all trades) +
No bankcard inquiries (6 mo) +
BC util 16–35%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2194560"/>
            <a:ext cx="777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05856" y="2377440"/>
            <a:ext cx="704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10,881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46520" y="2194560"/>
            <a:ext cx="685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83096" y="2377440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10.88%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32320" y="2194560"/>
            <a:ext cx="777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68896" y="2377440"/>
            <a:ext cx="704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0.24%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09560" y="2194560"/>
            <a:ext cx="594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46136" y="2377440"/>
            <a:ext cx="521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0.41%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03920" y="2194560"/>
            <a:ext cx="685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40496" y="2377440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392B"/>
                </a:solidFill>
              </a:rPr>
              <a:t>0.58×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89720" y="2194560"/>
            <a:ext cx="987552" cy="71323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35440" y="2304288"/>
            <a:ext cx="896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✓ STABLE
(all 3 waves)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2944368"/>
            <a:ext cx="365760" cy="7132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314553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2944368"/>
            <a:ext cx="5029200" cy="71323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2980944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A"/>
                </a:solidFill>
              </a:rPr>
              <a:t>No bankcard DQ mid-term +
No bankcard inquiries (6 mo) +
FICO 664–694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0" y="2944368"/>
            <a:ext cx="777240" cy="71323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05856" y="3127248"/>
            <a:ext cx="704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10,616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944368"/>
            <a:ext cx="685800" cy="71323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83096" y="3127248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10.62%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32320" y="2944368"/>
            <a:ext cx="777240" cy="71323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68896" y="3127248"/>
            <a:ext cx="704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0.25%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09560" y="2944368"/>
            <a:ext cx="594360" cy="71323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946136" y="3127248"/>
            <a:ext cx="521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0.41%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03920" y="2944368"/>
            <a:ext cx="685800" cy="71323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40496" y="3127248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392B"/>
                </a:solidFill>
              </a:rPr>
              <a:t>0.62×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89720" y="2944368"/>
            <a:ext cx="987552" cy="71323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235440" y="3054096"/>
            <a:ext cx="896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✓ STABLE
(all 3 waves)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3694176"/>
            <a:ext cx="365760" cy="7132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74320" y="389534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" y="3694176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3232" y="3730752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A"/>
                </a:solidFill>
              </a:rPr>
              <a:t>No bankcard DQ long-term +
No bankcard inquiries (6 mo) +
FICO 694–730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0" y="3694176"/>
            <a:ext cx="777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705856" y="3877056"/>
            <a:ext cx="704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13,060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3694176"/>
            <a:ext cx="685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83096" y="3877056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13.06%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132320" y="3694176"/>
            <a:ext cx="777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168896" y="3877056"/>
            <a:ext cx="704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0.26%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909560" y="3694176"/>
            <a:ext cx="594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946136" y="3877056"/>
            <a:ext cx="521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0.41%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503920" y="3694176"/>
            <a:ext cx="685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540496" y="3877056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392B"/>
                </a:solidFill>
              </a:rPr>
              <a:t>0.64×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89720" y="3694176"/>
            <a:ext cx="987552" cy="71323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235440" y="3803904"/>
            <a:ext cx="896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✓ STABLE
(all 3 waves)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4443984"/>
            <a:ext cx="365760" cy="7132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4320" y="46451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40080" y="4443984"/>
            <a:ext cx="5029200" cy="71323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13232" y="4480560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A"/>
                </a:solidFill>
              </a:rPr>
              <a:t>No bankcard DQ mid-term +
FICO 664–694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669280" y="4443984"/>
            <a:ext cx="777240" cy="71323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705856" y="4626864"/>
            <a:ext cx="704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12,939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446520" y="4443984"/>
            <a:ext cx="685800" cy="71323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83096" y="4626864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12.94%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132320" y="4443984"/>
            <a:ext cx="777240" cy="71323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168896" y="4626864"/>
            <a:ext cx="704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0.26%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909560" y="4443984"/>
            <a:ext cx="594360" cy="71323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946136" y="4626864"/>
            <a:ext cx="521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0.41%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503920" y="4443984"/>
            <a:ext cx="685800" cy="71323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540496" y="4626864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392B"/>
                </a:solidFill>
              </a:rPr>
              <a:t>0.64×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189720" y="4443984"/>
            <a:ext cx="987552" cy="71323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235440" y="4553712"/>
            <a:ext cx="896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✓ STABLE
(all 3 waves)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4320" y="5230368"/>
            <a:ext cx="11640312" cy="658368"/>
          </a:xfrm>
          <a:prstGeom prst="rect">
            <a:avLst/>
          </a:prstGeom>
          <a:solidFill>
            <a:srgbClr val="E8F4E8"/>
          </a:solidFill>
          <a:ln w="1270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11480" y="5285232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A3C"/>
                </a:solidFill>
              </a:rPr>
              <a:t>UNION OF TOP 5 SEGMENTS: 33,777 records (33.8% of file) · 89 actual responders vs 138 expected at BAU · Suppressing these saves ≈34% of mailing cost while retaining 78.3% of all campaign responses.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Segment #1 Deep Dive — Best Suppression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EFX_AL_DQOCURNC_5==0 AND EFX_BC_DQOCURNC_3==0 AND FICO ∈ [664, 694)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A"/>
                </a:solidFill>
              </a:rPr>
              <a:t>CONFIDENTIAL  |  Credit Card DM Suppression  |  June 26, 2026  |  Page 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1828800" cy="109728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161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Segment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49047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2A4A"/>
                </a:solidFill>
              </a:rPr>
              <a:t>10,947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79" y="1143000"/>
            <a:ext cx="1828800" cy="109728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12161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% of 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5999" y="149047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2A4A"/>
                </a:solidFill>
              </a:rPr>
              <a:t>10.95%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143000"/>
            <a:ext cx="1828800" cy="109728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79" y="12161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Response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59" y="149047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</a:rPr>
              <a:t>0.24%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199" y="1143000"/>
            <a:ext cx="1828800" cy="109728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39" y="12161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vs BAU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19" y="149047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A6A7A"/>
                </a:solidFill>
              </a:rPr>
              <a:t>0.41%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143000"/>
            <a:ext cx="1828800" cy="109728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2161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Lift Ratio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149047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</a:rPr>
              <a:t>0.58×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04120" y="1143000"/>
            <a:ext cx="1828800" cy="109728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5560" y="12161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Responders Forfeited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149047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69B00"/>
                </a:solidFill>
              </a:rPr>
              <a:t>26 of 410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468880"/>
            <a:ext cx="5394960" cy="352044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2468880"/>
            <a:ext cx="5394960" cy="365760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248716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RULE IN PLAIN ENGLISH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907792"/>
            <a:ext cx="914400" cy="749808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072384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2926080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</a:rPr>
              <a:t>EFX_AL_DQOCURNC_5 = 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3182112"/>
            <a:ext cx="42519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A7A"/>
                </a:solidFill>
              </a:rPr>
              <a:t>Zero delinquency events across ALL trade lines in the past 36+ months. This prospect has never missed a payment in the review window.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794760"/>
            <a:ext cx="914400" cy="749808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395935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8448" y="3813048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</a:rPr>
              <a:t>EFX_BC_DQOCURNC_3 = 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8448" y="4069080"/>
            <a:ext cx="42519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A7A"/>
                </a:solidFill>
              </a:rPr>
              <a:t>Zero bankcard-specific delinquency events in the 24–36 month window. Reinforces pattern: no credit stress history.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681728"/>
            <a:ext cx="914400" cy="749808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48463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8448" y="4700016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</a:rPr>
              <a:t>FICO ∈ [664, 694)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98448" y="4956048"/>
            <a:ext cx="42519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A7A"/>
                </a:solidFill>
              </a:rPr>
              <a:t>Mid near-prime FICO band. Above sub-prime (where cards are scarce), below prime (where competing offers flood the mailbox). Comfortable credit access — not motivated by need.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2468880"/>
            <a:ext cx="5971032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43600" y="2468880"/>
            <a:ext cx="597103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89320" y="2487168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WAVE-BY-WAVE STABILITY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2907792"/>
            <a:ext cx="502920" cy="384048"/>
          </a:xfrm>
          <a:prstGeom prst="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80176" y="2980944"/>
            <a:ext cx="429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Wave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46520" y="2907792"/>
            <a:ext cx="1234440" cy="384048"/>
          </a:xfrm>
          <a:prstGeom prst="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83096" y="2980944"/>
            <a:ext cx="1161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Drop Date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0" y="2907792"/>
            <a:ext cx="1005840" cy="384048"/>
          </a:xfrm>
          <a:prstGeom prst="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17536" y="2980944"/>
            <a:ext cx="932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Segment 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86800" y="2907792"/>
            <a:ext cx="914400" cy="384048"/>
          </a:xfrm>
          <a:prstGeom prst="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23376" y="2980944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Resp Rate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01200" y="2907792"/>
            <a:ext cx="731520" cy="384048"/>
          </a:xfrm>
          <a:prstGeom prst="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37776" y="2980944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vs BAU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332720" y="2907792"/>
            <a:ext cx="667512" cy="384048"/>
          </a:xfrm>
          <a:prstGeom prst="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369296" y="298094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Lift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43600" y="3310128"/>
            <a:ext cx="502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80176" y="3383280"/>
            <a:ext cx="429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A"/>
                </a:solidFill>
              </a:rPr>
              <a:t>W1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3310128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83096" y="3383280"/>
            <a:ext cx="1161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A"/>
                </a:solidFill>
              </a:rPr>
              <a:t>Jan 6, 2026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680960" y="3310128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17536" y="3383280"/>
            <a:ext cx="932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A"/>
                </a:solidFill>
              </a:rPr>
              <a:t>3,650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86800" y="3310128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23376" y="3383280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A"/>
                </a:solidFill>
              </a:rPr>
              <a:t>0.247%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01200" y="3310128"/>
            <a:ext cx="731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37776" y="338328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A"/>
                </a:solidFill>
              </a:rPr>
              <a:t>0.41%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332720" y="3310128"/>
            <a:ext cx="6675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369296" y="338328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A"/>
                </a:solidFill>
              </a:rPr>
              <a:t>0.60×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43600" y="3712464"/>
            <a:ext cx="50292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80176" y="3785616"/>
            <a:ext cx="429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A"/>
                </a:solidFill>
              </a:rPr>
              <a:t>W2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3712464"/>
            <a:ext cx="123444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83096" y="3785616"/>
            <a:ext cx="1161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A"/>
                </a:solidFill>
              </a:rPr>
              <a:t>Feb 10, 2026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680960" y="3712464"/>
            <a:ext cx="100584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717536" y="3785616"/>
            <a:ext cx="932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A"/>
                </a:solidFill>
              </a:rPr>
              <a:t>3,610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686800" y="3712464"/>
            <a:ext cx="91440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723376" y="3785616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A"/>
                </a:solidFill>
              </a:rPr>
              <a:t>0.194%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601200" y="3712464"/>
            <a:ext cx="73152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37776" y="3785616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A"/>
                </a:solidFill>
              </a:rPr>
              <a:t>0.41%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332720" y="3712464"/>
            <a:ext cx="667512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369296" y="3785616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A"/>
                </a:solidFill>
              </a:rPr>
              <a:t>0.47×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943600" y="4114800"/>
            <a:ext cx="502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980176" y="4187952"/>
            <a:ext cx="429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A"/>
                </a:solidFill>
              </a:rPr>
              <a:t>W3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446520" y="4114800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83096" y="4187952"/>
            <a:ext cx="1161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A"/>
                </a:solidFill>
              </a:rPr>
              <a:t>Mar 10, 2026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80960" y="4114800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717536" y="4187952"/>
            <a:ext cx="932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A"/>
                </a:solidFill>
              </a:rPr>
              <a:t>3,687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686800" y="4114800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723376" y="418795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A"/>
                </a:solidFill>
              </a:rPr>
              <a:t>0.271%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601200" y="4114800"/>
            <a:ext cx="731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637776" y="418795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A"/>
                </a:solidFill>
              </a:rPr>
              <a:t>0.41%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332720" y="4114800"/>
            <a:ext cx="66751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369296" y="418795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A"/>
                </a:solidFill>
              </a:rPr>
              <a:t>0.66×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943600" y="4517136"/>
            <a:ext cx="50292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980176" y="4590288"/>
            <a:ext cx="429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7A3C"/>
                </a:solidFill>
              </a:rPr>
              <a:t>ALL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446520" y="4517136"/>
            <a:ext cx="123444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83096" y="4590288"/>
            <a:ext cx="1161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7A3C"/>
                </a:solidFill>
              </a:rPr>
              <a:t>Combined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680960" y="4517136"/>
            <a:ext cx="100584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717536" y="4590288"/>
            <a:ext cx="932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7A3C"/>
                </a:solidFill>
              </a:rPr>
              <a:t>10,947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686800" y="4517136"/>
            <a:ext cx="91440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723376" y="4590288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7A3C"/>
                </a:solidFill>
              </a:rPr>
              <a:t>0.237%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01200" y="4517136"/>
            <a:ext cx="73152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637776" y="4590288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7A3C"/>
                </a:solidFill>
              </a:rPr>
              <a:t>0.41%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332720" y="4517136"/>
            <a:ext cx="667512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369296" y="459028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7A3C"/>
                </a:solidFill>
              </a:rPr>
              <a:t>0.58×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989320" y="46177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A6A7A"/>
                </a:solidFill>
              </a:rPr>
              <a:t>All 3 waves consistently below BAU. Statistical noise due to sparse responders (~10 events/window) but directional signal is robust.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74320" y="6035040"/>
            <a:ext cx="11640312" cy="548640"/>
          </a:xfrm>
          <a:prstGeom prst="rect">
            <a:avLst/>
          </a:prstGeom>
          <a:solidFill>
            <a:srgbClr val="FFF3E0"/>
          </a:solidFill>
          <a:ln w="12700">
            <a:solidFill>
              <a:srgbClr val="E69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11480" y="6080760"/>
            <a:ext cx="1133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5E00"/>
                </a:solidFill>
              </a:rPr>
              <a:t>Business profile: The 'passively creditworthy' prospect — clean credit history, comfortable FICO, not actively shopping for credit. They receive this offer but already have sufficient credit access and no financial stress triggering card-seeking behaviour.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SHAP Driver Analysis — What Predicts Non-Response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XGBoost + TreeSHAP over 26 Equifax bureau features · ranked by mean |SHAP|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A"/>
                </a:solidFill>
              </a:rPr>
              <a:t>CONFIDENTIAL  |  Credit Card DM Suppression  |  June 26, 2026  |  Page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1430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</a:rPr>
              <a:t>1. Bankcard utilization (% of limit used)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179576"/>
            <a:ext cx="5029200" cy="201168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44200" y="117957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A"/>
                </a:solidFill>
              </a:rPr>
              <a:t>0.0578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399032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A6A7A"/>
                </a:solidFill>
              </a:rPr>
              <a:t>Low utilization = not credit-hungry. Passively using existing cards.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65506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</a:rPr>
              <a:t>2. Total open balance across all trades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1691640"/>
            <a:ext cx="4950890" cy="201168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65890" y="16916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A"/>
                </a:solidFill>
              </a:rPr>
              <a:t>0.0569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1911095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A6A7A"/>
                </a:solidFill>
              </a:rPr>
              <a:t>High overall debt load correlates with either avoidance or already-served need.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1671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</a:rPr>
              <a:t>3. Age of oldest open trade (months)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2203704"/>
            <a:ext cx="3106270" cy="201168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1270" y="220370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A"/>
                </a:solidFill>
              </a:rPr>
              <a:t>0.0357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423160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A6A7A"/>
                </a:solidFill>
              </a:rPr>
              <a:t>Longer credit history = established borrower with less urgent card need.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267919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A4A"/>
                </a:solidFill>
              </a:rPr>
              <a:t>4. Credit score 300–850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715768"/>
            <a:ext cx="3054064" cy="201168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69064" y="271576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A"/>
                </a:solidFill>
              </a:rPr>
              <a:t>0.0351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2935224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A6A7A"/>
                </a:solidFill>
              </a:rPr>
              <a:t>Mid-band FICO (664–730) = prime-adjacent but not actively card-shopping.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319125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A4A"/>
                </a:solidFill>
              </a:rPr>
              <a:t>5. DQ events, all trades, 24–36 month window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3227832"/>
            <a:ext cx="2679919" cy="201168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919" y="322783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A"/>
                </a:solidFill>
              </a:rPr>
              <a:t>0.0308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344728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A6A7A"/>
                </a:solidFill>
              </a:rPr>
              <a:t>Absence of recent delinquency signals credit comfort — no pressure to act.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37033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A4A"/>
                </a:solidFill>
              </a:rPr>
              <a:t>6. Bankcard balance (36+ month snapshot)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0" y="3739896"/>
            <a:ext cx="2131754" cy="201168"/>
          </a:xfrm>
          <a:prstGeom prst="rect">
            <a:avLst/>
          </a:prstGeom>
          <a:solidFill>
            <a:srgbClr val="90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46754" y="373989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A"/>
                </a:solidFill>
              </a:rPr>
              <a:t>0.0245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3959352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A6A7A"/>
                </a:solidFill>
              </a:rPr>
              <a:t>Persistent moderate balance = steady revolving user, not an acquirer.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421538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A4A"/>
                </a:solidFill>
              </a:rPr>
              <a:t>7. Age of oldest open bankcard (months)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251960"/>
            <a:ext cx="1949032" cy="201168"/>
          </a:xfrm>
          <a:prstGeom prst="rect">
            <a:avLst/>
          </a:prstGeom>
          <a:solidFill>
            <a:srgbClr val="90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64032" y="425196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A"/>
                </a:solidFill>
              </a:rPr>
              <a:t>0.0224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471416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A6A7A"/>
                </a:solidFill>
              </a:rPr>
              <a:t>Established cardholder; existing product portfolio likely meets needs.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47274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A4A"/>
                </a:solidFill>
              </a:rPr>
              <a:t>8. Count of all open trade lines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0" y="4764024"/>
            <a:ext cx="1853321" cy="201168"/>
          </a:xfrm>
          <a:prstGeom prst="rect">
            <a:avLst/>
          </a:prstGeom>
          <a:solidFill>
            <a:srgbClr val="90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68321" y="476402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A"/>
                </a:solidFill>
              </a:rPr>
              <a:t>0.0213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4983480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A6A7A"/>
                </a:solidFill>
              </a:rPr>
              <a:t>More existing accounts = less need for another credit product.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52395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A4A"/>
                </a:solidFill>
              </a:rPr>
              <a:t>9. Bankcard inquiries in last 24 months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0" y="5276088"/>
            <a:ext cx="1757609" cy="201168"/>
          </a:xfrm>
          <a:prstGeom prst="rect">
            <a:avLst/>
          </a:prstGeom>
          <a:solidFill>
            <a:srgbClr val="90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72609" y="527608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A"/>
                </a:solidFill>
              </a:rPr>
              <a:t>0.0202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5495544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A6A7A"/>
                </a:solidFill>
              </a:rPr>
              <a:t>Inquiry absence confirms no active credit shopping behaviour.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575157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A4A"/>
                </a:solidFill>
              </a:rPr>
              <a:t>10. Count of open bankcards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0" y="5788152"/>
            <a:ext cx="1661898" cy="201168"/>
          </a:xfrm>
          <a:prstGeom prst="rect">
            <a:avLst/>
          </a:prstGeom>
          <a:solidFill>
            <a:srgbClr val="90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76898" y="578815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A"/>
                </a:solidFill>
              </a:rPr>
              <a:t>0.0191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0" y="600760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A6A7A"/>
                </a:solidFill>
              </a:rPr>
              <a:t>Already holds multiple cards; marginal utility of another is low.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6263640"/>
            <a:ext cx="11640312" cy="411480"/>
          </a:xfrm>
          <a:prstGeom prst="rect">
            <a:avLst/>
          </a:prstGeom>
          <a:solidFill>
            <a:srgbClr val="E8F0FF"/>
          </a:solidFill>
          <a:ln w="10160">
            <a:solidFill>
              <a:srgbClr val="20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629107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05CA8"/>
                </a:solidFill>
              </a:rPr>
              <a:t>Unifying theme: low credit-appetite. Non-responders are passively credit-satisfied — established trades, adequate limits, modest utilization, no recent shopping. They receive the offer but have no trigger to act. Segment rules map directly to top SHAP features.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Business Impact — Suppression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Estimated savings from applying the top 5 segments as suppression rules across future mail waves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A"/>
                </a:solidFill>
              </a:rPr>
              <a:t>CONFIDENTIAL  |  Credit Card DM Suppression  |  June 26, 2026  |  Page 7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2743200" cy="132588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161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Records Suppressed
(per wave)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49047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</a:rPr>
              <a:t>33,777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35915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6A7A"/>
                </a:solidFill>
              </a:rPr>
              <a:t>33.8% of 100k file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143000"/>
            <a:ext cx="2743200" cy="132588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2161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Responses Retained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49047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7A3C"/>
                </a:solidFill>
              </a:rPr>
              <a:t>321 of 410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35915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6A7A"/>
                </a:solidFill>
              </a:rPr>
              <a:t>78.3% response retention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143000"/>
            <a:ext cx="2743200" cy="132588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2161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Responses Forfeited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49047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69B00"/>
                </a:solidFill>
              </a:rPr>
              <a:t>89 of 410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35915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6A7A"/>
                </a:solidFill>
              </a:rPr>
              <a:t>21.7% — acceptable trade-off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1143000"/>
            <a:ext cx="2743200" cy="132588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2161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Response Rate
(post-suppression)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49047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7A3C"/>
                </a:solidFill>
              </a:rPr>
              <a:t>0.48%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35915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6A7A"/>
                </a:solidFill>
              </a:rPr>
              <a:t>vs 0.41% pre-suppression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834640"/>
            <a:ext cx="5577840" cy="329184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2834640"/>
            <a:ext cx="557784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85292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BREAK-EVEN MAILING COST ANALYSIS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246120"/>
            <a:ext cx="201168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" y="3300984"/>
            <a:ext cx="1938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Cost per piece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3246120"/>
            <a:ext cx="86868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22576" y="3300984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$0.50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54680" y="3246120"/>
            <a:ext cx="86868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91256" y="3300984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$1.00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0" y="3246120"/>
            <a:ext cx="86868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59936" y="3300984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$1.50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92040" y="3246120"/>
            <a:ext cx="868680" cy="347472"/>
          </a:xfrm>
          <a:prstGeom prst="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28616" y="3300984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$2.00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611879"/>
            <a:ext cx="2011680" cy="34747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0896" y="3666744"/>
            <a:ext cx="1938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A7A"/>
                </a:solidFill>
              </a:rPr>
              <a:t>Savings (33,777 pieces)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3611879"/>
            <a:ext cx="868680" cy="34747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22576" y="3666744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6A7A"/>
                </a:solidFill>
              </a:rPr>
              <a:t>$16,889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54680" y="3611879"/>
            <a:ext cx="868680" cy="34747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91256" y="3666744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6A7A"/>
                </a:solidFill>
              </a:rPr>
              <a:t>$33,777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23360" y="3611879"/>
            <a:ext cx="868680" cy="34747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59936" y="3666744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6A7A"/>
                </a:solidFill>
              </a:rPr>
              <a:t>$50,666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92040" y="3611879"/>
            <a:ext cx="868680" cy="34747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28616" y="3666744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6A7A"/>
                </a:solidFill>
              </a:rPr>
              <a:t>$67,554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977639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0896" y="4032503"/>
            <a:ext cx="1938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A7A"/>
                </a:solidFill>
              </a:rPr>
              <a:t>Responses forfeited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0" y="3977639"/>
            <a:ext cx="868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22576" y="4032503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6A7A"/>
                </a:solidFill>
              </a:rPr>
              <a:t>89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54680" y="3977639"/>
            <a:ext cx="868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91256" y="4032503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6A7A"/>
                </a:solidFill>
              </a:rPr>
              <a:t>89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23360" y="3977639"/>
            <a:ext cx="868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59936" y="4032503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6A7A"/>
                </a:solidFill>
              </a:rPr>
              <a:t>89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92040" y="3977639"/>
            <a:ext cx="868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28616" y="4032503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6A7A"/>
                </a:solidFill>
              </a:rPr>
              <a:t>89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4343400"/>
            <a:ext cx="2011680" cy="34747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10896" y="4398264"/>
            <a:ext cx="1938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A7A"/>
                </a:solidFill>
              </a:rPr>
              <a:t>Break-even value/resp.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0" y="4343400"/>
            <a:ext cx="868680" cy="34747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22576" y="4398264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6A7A"/>
                </a:solidFill>
              </a:rPr>
              <a:t>$190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154680" y="4343400"/>
            <a:ext cx="868680" cy="34747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91256" y="4398264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6A7A"/>
                </a:solidFill>
              </a:rPr>
              <a:t>$380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023360" y="4343400"/>
            <a:ext cx="868680" cy="34747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059936" y="4398264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6A7A"/>
                </a:solidFill>
              </a:rPr>
              <a:t>$569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892040" y="4343400"/>
            <a:ext cx="868680" cy="34747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928616" y="4398264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6A7A"/>
                </a:solidFill>
              </a:rPr>
              <a:t>$759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709160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10896" y="4764024"/>
            <a:ext cx="1938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A7A"/>
                </a:solidFill>
              </a:rPr>
              <a:t>Booking rate ~20% → value/booking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86000" y="4709160"/>
            <a:ext cx="868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322576" y="4764024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6A7A"/>
                </a:solidFill>
              </a:rPr>
              <a:t>$950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154680" y="4709160"/>
            <a:ext cx="868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191256" y="4764024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6A7A"/>
                </a:solidFill>
              </a:rPr>
              <a:t>$1,900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023360" y="4709160"/>
            <a:ext cx="868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059936" y="4764024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6A7A"/>
                </a:solidFill>
              </a:rPr>
              <a:t>$2,847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892040" y="4709160"/>
            <a:ext cx="868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928616" y="4764024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A6A7A"/>
                </a:solidFill>
              </a:rPr>
              <a:t>$3,796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5074920"/>
            <a:ext cx="2011680" cy="34747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10896" y="5129784"/>
            <a:ext cx="1938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5A6A7A"/>
                </a:solidFill>
              </a:rPr>
              <a:t>NET (saves &gt; lost revenue?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286000" y="5074920"/>
            <a:ext cx="868680" cy="34747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322576" y="5129784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7A3C"/>
                </a:solidFill>
              </a:rPr>
              <a:t>✓ YES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154680" y="5074920"/>
            <a:ext cx="868680" cy="34747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191256" y="5129784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7A3C"/>
                </a:solidFill>
              </a:rPr>
              <a:t>✓ YES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023360" y="5074920"/>
            <a:ext cx="868680" cy="34747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059936" y="5129784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69B00"/>
                </a:solidFill>
              </a:rPr>
              <a:t>Depends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892040" y="5074920"/>
            <a:ext cx="868680" cy="347472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928616" y="5129784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69B00"/>
                </a:solidFill>
              </a:rPr>
              <a:t>Depends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0040" y="6035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A6A7A"/>
                </a:solidFill>
              </a:rPr>
              <a:t>* Assumes 20% of respondents book a card. Break-even value per response = Savings ÷ Responses forfeited.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126480" y="2834640"/>
            <a:ext cx="578815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126480" y="2834640"/>
            <a:ext cx="5788152" cy="36576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72200" y="2852928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RECOMMENDED ACTION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72200" y="3273552"/>
            <a:ext cx="411480" cy="74980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72200" y="34564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29400" y="32918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Implement Segment #1 &amp; #2 immediately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629400" y="3547872"/>
            <a:ext cx="51663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A7A"/>
                </a:solidFill>
              </a:rPr>
              <a:t>10,947 + 10,881 records. Strongest lift (0.58×), full wave stability, clean 2–3 condition rules. Operationalise via pre-screen suppression file.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72200" y="4233672"/>
            <a:ext cx="411480" cy="74980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72200" y="441655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629400" y="425195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Expand to full top 5 after one wave validation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629400" y="4507992"/>
            <a:ext cx="51663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A7A"/>
                </a:solidFill>
              </a:rPr>
              <a:t>33,777 total. Monitor actual response rates vs prediction. Refit quarterly as bureau data refreshes.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72200" y="5193792"/>
            <a:ext cx="411480" cy="74980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72200" y="53766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629400" y="521207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Investigate high-response inverse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29400" y="5468112"/>
            <a:ext cx="51663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A7A"/>
                </a:solidFill>
              </a:rPr>
              <a:t>V0 cuts show FICO 554–628, high inquiries, and high utilization as TARGETING signals. Consider positive targeting alongside suppression.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Operationalisation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From segment rules to suppression file — recommended implementation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A"/>
                </a:solidFill>
              </a:rPr>
              <a:t>CONFIDENTIAL  |  Credit Card DM Suppression  |  June 26, 2026  |  Page 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577840" cy="5212080"/>
          </a:xfrm>
          <a:prstGeom prst="rect">
            <a:avLst/>
          </a:prstGeom>
          <a:solidFill>
            <a:srgbClr val="F4F6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5577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1612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SUPPRESSION PROFILE — DO-NOT-MAIL INDICATOR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600200"/>
            <a:ext cx="5349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7A"/>
                </a:solidFill>
              </a:rPr>
              <a:t>The typical non-responding prospect matches two or more of:
• FICO 664–730  (near-prime; not credit-deprived, not affluent-prime)
• No bankcard DQ occurrences in 24–36 months (EFX_BC_DQOCURNC_3 = 0)
• No all-trade DQ occurrences in 36+ months (EFX_AL_DQOCURNC_5 = 0)
• Zero recent bankcard inquiries in 6 months (EFX_BC_INQCNT_1 = 0)
• Bankcard utilization 16–35% (EFX_BC_UTIL_1 ∈ [16, 35])
Interpretation: Credit-comfortable, passively engaged with existing
products, not actively seeking new credit. Low urgency, low response
probability regardless of offer attractiveness.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143000"/>
            <a:ext cx="5788152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143000"/>
            <a:ext cx="5788152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16128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IMPLEMENTATION CHECKLIST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600200"/>
            <a:ext cx="1005840" cy="804672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8013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Wave N+1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1618488"/>
            <a:ext cx="4526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Pre-screen suppression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1874519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A7A"/>
                </a:solidFill>
              </a:rPr>
              <a:t>Apply top 2 segment rules as hard suppression filters before address-file selection. Estimated file reduction: 20,664 records (20.7%).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587752"/>
            <a:ext cx="1005840" cy="804672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27889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Wave N+1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2048" y="2606040"/>
            <a:ext cx="4526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Track actual vs forecast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2862072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A7A"/>
                </a:solidFill>
              </a:rPr>
              <a:t>Compare realised response rate in suppressed cohort (should be ~0.24%) to verify model holds on new data.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575304"/>
            <a:ext cx="1005840" cy="804672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377647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Q+1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2048" y="3593592"/>
            <a:ext cx="4526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Refresh bureau pull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3849624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A7A"/>
                </a:solidFill>
              </a:rPr>
              <a:t>Re-derive EFX attributes from latest bureau snapshot. Re-run V0–V3 pipeline on refreshed file. Rules may shift as consumer credit conditions change.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562856"/>
            <a:ext cx="1005840" cy="804672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476402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Q+1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42048" y="4581144"/>
            <a:ext cx="4526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Expand suppression scope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42048" y="4837176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A7A"/>
                </a:solidFill>
              </a:rPr>
              <a:t>If validation confirms lift, apply full top-5 union. Target 33% file reduction with &lt;22% response sacrifice.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5550408"/>
            <a:ext cx="1005840" cy="804672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57515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Q+2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2048" y="5568696"/>
            <a:ext cx="4526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</a:rPr>
              <a:t>Targeting use case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42048" y="5824728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6A7A"/>
                </a:solidFill>
              </a:rPr>
              <a:t>Build positive targeting model from the high-response signals identified in V0 cuts (high inquiry, sub-prime FICO, high utilization). Combine suppression + targeting for full file optimisation.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Appendix — Full Technical Segment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Exact pysubgroup rule syntax from V1 multi-feature beam search · top 12 results shown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2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A"/>
                </a:solidFill>
              </a:rPr>
              <a:t>CONFIDENTIAL  |  Credit Card DM Suppression  |  June 26, 2026  |  Page 9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274320" cy="320040"/>
          </a:xfrm>
          <a:prstGeom prst="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1179576"/>
            <a:ext cx="16459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143000"/>
            <a:ext cx="6858000" cy="320040"/>
          </a:xfrm>
          <a:prstGeom prst="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3" y="1179576"/>
            <a:ext cx="67482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Rule (exact syntax)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143000"/>
            <a:ext cx="822960" cy="320040"/>
          </a:xfrm>
          <a:prstGeom prst="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61504" y="1179576"/>
            <a:ext cx="71323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143000"/>
            <a:ext cx="685800" cy="320040"/>
          </a:xfrm>
          <a:prstGeom prst="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179576"/>
            <a:ext cx="57607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% File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1143000"/>
            <a:ext cx="713232" cy="320040"/>
          </a:xfrm>
          <a:prstGeom prst="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70264" y="1179576"/>
            <a:ext cx="603504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Resp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28632" y="1143000"/>
            <a:ext cx="640080" cy="320040"/>
          </a:xfrm>
          <a:prstGeom prst="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83496" y="1179576"/>
            <a:ext cx="53035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Lift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463040"/>
            <a:ext cx="27432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" y="1517904"/>
            <a:ext cx="20116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1463040"/>
            <a:ext cx="685800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1517904"/>
            <a:ext cx="67848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6A7A"/>
                </a:solidFill>
              </a:rPr>
              <a:t>EFX_AL_DQOCURNC_5==0.0 AND EFX_BC_DQOCURNC_3==0.0 AND FICO: [664.0:694.0[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1463040"/>
            <a:ext cx="82296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5" y="1517904"/>
            <a:ext cx="749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10,947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463040"/>
            <a:ext cx="68580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5" y="1517904"/>
            <a:ext cx="612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10.95%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15400" y="1463040"/>
            <a:ext cx="713232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51976" y="151790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0.2375%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28632" y="1463040"/>
            <a:ext cx="64008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65207" y="1517904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0392B"/>
                </a:solidFill>
              </a:rPr>
              <a:t>0.579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1801368"/>
            <a:ext cx="2743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896" y="1856232"/>
            <a:ext cx="20116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1801368"/>
            <a:ext cx="6858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" y="1856232"/>
            <a:ext cx="67848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6A7A"/>
                </a:solidFill>
              </a:rPr>
              <a:t>EFX_AL_DQOCURNC_1==0.0 AND EFX_BC_INQCNT_1==0.0 AND EFX_BC_UTIL_1: [16.0:35.0[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06640" y="1801368"/>
            <a:ext cx="822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43215" y="1856232"/>
            <a:ext cx="749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10,881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1801368"/>
            <a:ext cx="685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66175" y="1856232"/>
            <a:ext cx="612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10.88%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15400" y="1801368"/>
            <a:ext cx="71323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51976" y="185623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0.2389%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28632" y="1801368"/>
            <a:ext cx="640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65207" y="185623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0392B"/>
                </a:solidFill>
              </a:rPr>
              <a:t>0.583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2139696"/>
            <a:ext cx="27432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0896" y="2194560"/>
            <a:ext cx="20116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2139696"/>
            <a:ext cx="685800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5216" y="2194560"/>
            <a:ext cx="67848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6A7A"/>
                </a:solidFill>
              </a:rPr>
              <a:t>EFX_BC_DQOCURNC_3==0.0 AND EFX_BC_INQCNT_1==0.0 AND FICO: [664.0:694.0[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06640" y="2139696"/>
            <a:ext cx="82296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43215" y="2194560"/>
            <a:ext cx="749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10,616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2139696"/>
            <a:ext cx="68580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66175" y="2194560"/>
            <a:ext cx="612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10.62%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15400" y="2139696"/>
            <a:ext cx="713232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51976" y="21945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0.2543%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8632" y="2139696"/>
            <a:ext cx="64008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65207" y="2194560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0392B"/>
                </a:solidFill>
              </a:rPr>
              <a:t>0.620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2478024"/>
            <a:ext cx="2743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0896" y="2532888"/>
            <a:ext cx="20116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2478024"/>
            <a:ext cx="6858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5216" y="2532888"/>
            <a:ext cx="67848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6A7A"/>
                </a:solidFill>
              </a:rPr>
              <a:t>EFX_BC_DQOCURNC_5==0.0 AND EFX_BC_INQCNT_1==0.0 AND FICO: [694.0:730.0[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06640" y="2478024"/>
            <a:ext cx="822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43215" y="2532888"/>
            <a:ext cx="749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13,060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29600" y="2478024"/>
            <a:ext cx="685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66175" y="2532888"/>
            <a:ext cx="612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13.06%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15400" y="2478024"/>
            <a:ext cx="71323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51976" y="253288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0.2603%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28632" y="2478024"/>
            <a:ext cx="640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65207" y="2532888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0392B"/>
                </a:solidFill>
              </a:rPr>
              <a:t>0.635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2816352"/>
            <a:ext cx="27432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10896" y="2871216"/>
            <a:ext cx="20116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" y="2816352"/>
            <a:ext cx="685800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85216" y="2871216"/>
            <a:ext cx="67848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6A7A"/>
                </a:solidFill>
              </a:rPr>
              <a:t>EFX_BC_DQOCURNC_3==0.0 AND FICO: [664.0:694.0[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406640" y="2816352"/>
            <a:ext cx="82296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43215" y="2871216"/>
            <a:ext cx="749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12,939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29600" y="2816352"/>
            <a:ext cx="68580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66175" y="2871216"/>
            <a:ext cx="612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12.94%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15400" y="2816352"/>
            <a:ext cx="713232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51976" y="287121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0.2628%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628632" y="2816352"/>
            <a:ext cx="64008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665207" y="2871216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0392B"/>
                </a:solidFill>
              </a:rPr>
              <a:t>0.641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3154680"/>
            <a:ext cx="2743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10896" y="3209544"/>
            <a:ext cx="20116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48640" y="3154680"/>
            <a:ext cx="6858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85216" y="3209544"/>
            <a:ext cx="67848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6A7A"/>
                </a:solidFill>
              </a:rPr>
              <a:t>EFX_AL_BAL_1: [67488.0:135936.0[ AND EFX_AL_DQOCURNC_1==0.0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406640" y="3154680"/>
            <a:ext cx="822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443215" y="3209544"/>
            <a:ext cx="749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13,079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229600" y="3154680"/>
            <a:ext cx="685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266175" y="3209544"/>
            <a:ext cx="612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13.08%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15400" y="3154680"/>
            <a:ext cx="71323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51976" y="320954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0.2753%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628632" y="3154680"/>
            <a:ext cx="640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665207" y="3209544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0.671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74320" y="3493008"/>
            <a:ext cx="27432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10896" y="3547872"/>
            <a:ext cx="20116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7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48640" y="3493008"/>
            <a:ext cx="685800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85216" y="3547872"/>
            <a:ext cx="67848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6A7A"/>
                </a:solidFill>
              </a:rPr>
              <a:t>EFX_AL_BAL_1: [67488.0:135936.0[ AND EFX_BC_DQOCURNC_5==0.0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406640" y="3493008"/>
            <a:ext cx="82296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443215" y="3547872"/>
            <a:ext cx="749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15,644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229600" y="3493008"/>
            <a:ext cx="68580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266175" y="3547872"/>
            <a:ext cx="612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15.64%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15400" y="3493008"/>
            <a:ext cx="713232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951976" y="354787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0.2813%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628632" y="3493008"/>
            <a:ext cx="64008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665207" y="354787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0.686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4320" y="3831336"/>
            <a:ext cx="2743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10896" y="3886200"/>
            <a:ext cx="20116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8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48640" y="3831336"/>
            <a:ext cx="6858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85216" y="3886200"/>
            <a:ext cx="67848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6A7A"/>
                </a:solidFill>
              </a:rPr>
              <a:t>EFX_BC_INQCNT_1==0.0 AND EFX_BC_UTIL_1: [16.0:35.0[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406640" y="3831336"/>
            <a:ext cx="822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443215" y="3886200"/>
            <a:ext cx="749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15,260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229600" y="3831336"/>
            <a:ext cx="685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266175" y="3886200"/>
            <a:ext cx="612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15.26%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915400" y="3831336"/>
            <a:ext cx="71323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951976" y="38862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0.2818%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628632" y="3831336"/>
            <a:ext cx="640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665207" y="3886200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0.687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" y="4169664"/>
            <a:ext cx="27432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10896" y="4224528"/>
            <a:ext cx="20116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9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48640" y="4169664"/>
            <a:ext cx="685800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85216" y="4224528"/>
            <a:ext cx="67848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6A7A"/>
                </a:solidFill>
              </a:rPr>
              <a:t>EFX_BC_INQCNT_1==0.0 AND EFX_BC_TRDAGE_2: [48.0:84.0[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406640" y="4169664"/>
            <a:ext cx="82296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443215" y="4224528"/>
            <a:ext cx="749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15,334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229600" y="4169664"/>
            <a:ext cx="68580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266175" y="4224528"/>
            <a:ext cx="612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15.33%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915400" y="4169664"/>
            <a:ext cx="713232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951976" y="422452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0.2869%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628632" y="4169664"/>
            <a:ext cx="64008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665207" y="4224528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0.700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74320" y="4507992"/>
            <a:ext cx="2743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10896" y="4562856"/>
            <a:ext cx="20116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10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48640" y="4507992"/>
            <a:ext cx="6858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85216" y="4562856"/>
            <a:ext cx="67848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6A7A"/>
                </a:solidFill>
              </a:rPr>
              <a:t>EFX_AL_BAL_1: [67488.0:135936.0[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406640" y="4507992"/>
            <a:ext cx="822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443215" y="4562856"/>
            <a:ext cx="749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18,516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229600" y="4507992"/>
            <a:ext cx="685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266175" y="4562856"/>
            <a:ext cx="612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18.52%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915400" y="4507992"/>
            <a:ext cx="71323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951976" y="456285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0.2970%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628632" y="4507992"/>
            <a:ext cx="640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665207" y="4562856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0.724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74320" y="4846320"/>
            <a:ext cx="27432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10896" y="4901184"/>
            <a:ext cx="20116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11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48640" y="4846320"/>
            <a:ext cx="685800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85216" y="4901184"/>
            <a:ext cx="67848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6A7A"/>
                </a:solidFill>
              </a:rPr>
              <a:t>EFX_AL_BAL_1: [67488.0:135936.0[ AND EFX_BC_INQCNT_1==0.0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406640" y="4846320"/>
            <a:ext cx="82296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443215" y="4901184"/>
            <a:ext cx="749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15,134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229600" y="4846320"/>
            <a:ext cx="68580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266175" y="4901184"/>
            <a:ext cx="612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15.13%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915400" y="4846320"/>
            <a:ext cx="713232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951976" y="490118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0.2973%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628632" y="4846320"/>
            <a:ext cx="640080" cy="32004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665207" y="4901184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0.725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74320" y="5184648"/>
            <a:ext cx="2743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10896" y="5239512"/>
            <a:ext cx="20116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12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48640" y="5184648"/>
            <a:ext cx="6858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85216" y="5239512"/>
            <a:ext cx="67848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6A7A"/>
                </a:solidFill>
              </a:rPr>
              <a:t>EFX_BC_INQCNT_1==0.0 AND EFX_BC_TRDAGE_3: [4.0:15.0[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7406640" y="5184648"/>
            <a:ext cx="822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443215" y="5239512"/>
            <a:ext cx="749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15,387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229600" y="5184648"/>
            <a:ext cx="685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266175" y="5239512"/>
            <a:ext cx="612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15.39%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915400" y="5184648"/>
            <a:ext cx="71323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951976" y="523951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0.2990%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628632" y="5184648"/>
            <a:ext cx="640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9665207" y="523951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6A7A"/>
                </a:solidFill>
              </a:rPr>
              <a:t>0.729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74320" y="612648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A6A7A"/>
                </a:solidFill>
              </a:rPr>
              <a:t>Segments 1–5 recommended for suppression (highlighted). All show response rate consistently below BAU across 3 mail waves. Segment 6+ show weaker but still-below-BAU rates.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