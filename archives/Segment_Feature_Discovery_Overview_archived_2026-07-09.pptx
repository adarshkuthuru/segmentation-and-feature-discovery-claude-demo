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F46"/>
    <a:srgbClr val="C7A059"/>
    <a:srgbClr val="F5F5F5"/>
    <a:srgbClr val="D4B074"/>
    <a:srgbClr val="E6D6BB"/>
    <a:srgbClr val="1D2D44"/>
    <a:srgbClr val="C8A15A"/>
    <a:srgbClr val="1E2761"/>
    <a:srgbClr val="C75B5B"/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CE333-6720-9146-A1EC-737ACBB8CE4D}" v="20" dt="2026-04-24T13:52:58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12"/>
    <p:restoredTop sz="95634" autoAdjust="0"/>
  </p:normalViewPr>
  <p:slideViewPr>
    <p:cSldViewPr snapToGrid="0" snapToObjects="1">
      <p:cViewPr varScale="1">
        <p:scale>
          <a:sx n="119" d="100"/>
          <a:sy n="119" d="100"/>
        </p:scale>
        <p:origin x="11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3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D2D44"/>
                </a:solidFill>
                <a:latin typeface="Calibri"/>
              </a:rPr>
              <a:t>Solution Architecture: What's Generic vs What's Yours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384048"/>
            <a:ext cx="914400" cy="32004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Generic components work on any dataset — example-specific facts live in the config file or the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© 2026 Zenon, LLC.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731520"/>
            <a:ext cx="45720" cy="310896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73152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D2D44"/>
                </a:solidFill>
                <a:latin typeface="Calibri"/>
              </a:rPr>
              <a:t>Today: analyst supplies both manually (Path A)   →   Next: Path B derives the config file itself from a one-line prompt (Slide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D2D44"/>
                </a:solidFill>
                <a:latin typeface="Calibri"/>
              </a:rPr>
              <a:t>DOMAIN-AGNOSTIC  —  reusable for any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16736"/>
            <a:ext cx="4846320" cy="3801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316736"/>
            <a:ext cx="45720" cy="380129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" y="1353312"/>
            <a:ext cx="455371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i="0">
                <a:solidFill>
                  <a:srgbClr val="1D2D44"/>
                </a:solidFill>
                <a:latin typeface="Calibri"/>
              </a:rPr>
              <a:t>Agent +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" y="1499616"/>
            <a:ext cx="4553712" cy="142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 i="0">
                <a:solidFill>
                  <a:srgbClr val="1D2D44"/>
                </a:solidFill>
                <a:latin typeface="Calibri"/>
              </a:rPr>
              <a:t>Claude Code runs the segment-discovery skill — orchestrates every stage, narrates results, confirms the spec with the analyst (Path A &amp; Path B).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742585"/>
            <a:ext cx="4846320" cy="3801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1742585"/>
            <a:ext cx="45720" cy="380129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" y="1779161"/>
            <a:ext cx="455371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i="0">
                <a:solidFill>
                  <a:srgbClr val="1D2D44"/>
                </a:solidFill>
                <a:latin typeface="Calibri"/>
              </a:rPr>
              <a:t>Tool 1: Single-feature decision tree cuts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1925465"/>
            <a:ext cx="4553712" cy="142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 i="0">
                <a:solidFill>
                  <a:srgbClr val="1D2D44"/>
                </a:solidFill>
                <a:latin typeface="Calibri"/>
              </a:rPr>
              <a:t>tree_cuts.py — fits depth-2 trees on every feature independently; surfaces BAU and best single-feature thresholds. Always the first stage.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68434"/>
            <a:ext cx="4846320" cy="3801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168434"/>
            <a:ext cx="45720" cy="380129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" y="2205010"/>
            <a:ext cx="455371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i="0">
                <a:solidFill>
                  <a:srgbClr val="1D2D44"/>
                </a:solidFill>
                <a:latin typeface="Calibri"/>
              </a:rPr>
              <a:t>Tool 2: Multi-feature subgroup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2351314"/>
            <a:ext cx="4553712" cy="142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 i="0">
                <a:solidFill>
                  <a:srgbClr val="1D2D44"/>
                </a:solidFill>
                <a:latin typeface="Calibri"/>
              </a:rPr>
              <a:t>subgroup_search.py — pysubgroup beam search across thousands of rules; ranks by WRAcc (size × deviation from BAU). The core value-add.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94283"/>
            <a:ext cx="4846320" cy="3801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594283"/>
            <a:ext cx="45720" cy="380129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" y="2630859"/>
            <a:ext cx="455371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i="0">
                <a:solidFill>
                  <a:srgbClr val="1D2D44"/>
                </a:solidFill>
                <a:latin typeface="Calibri"/>
              </a:rPr>
              <a:t>Tool 3: Stability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" y="2777163"/>
            <a:ext cx="4553712" cy="142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 i="0">
                <a:solidFill>
                  <a:srgbClr val="1D2D44"/>
                </a:solidFill>
                <a:latin typeface="Calibri"/>
              </a:rPr>
              <a:t>stability.py — re-checks each top rule within every time/cohort window; flags unstable segments. No-op when no time column is 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020132"/>
            <a:ext cx="4846320" cy="3801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3020132"/>
            <a:ext cx="45720" cy="380129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" y="3056708"/>
            <a:ext cx="455371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i="0">
                <a:solidFill>
                  <a:srgbClr val="1D2D44"/>
                </a:solidFill>
                <a:latin typeface="Calibri"/>
              </a:rPr>
              <a:t>Tool 4: SHAP driver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" y="3203012"/>
            <a:ext cx="4553712" cy="142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 i="0">
                <a:solidFill>
                  <a:srgbClr val="1D2D44"/>
                </a:solidFill>
                <a:latin typeface="Calibri"/>
              </a:rPr>
              <a:t>drivers.py — gradient-boosted model + SHAP; confirms rules are mechanistically grounded, not data artifacts.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45981"/>
            <a:ext cx="4846320" cy="3801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445981"/>
            <a:ext cx="45720" cy="380129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" y="3482557"/>
            <a:ext cx="455371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i="0">
                <a:solidFill>
                  <a:srgbClr val="1D2D44"/>
                </a:solidFill>
                <a:latin typeface="Calibri"/>
              </a:rPr>
              <a:t>Orchestrator + PPT builder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" y="3628861"/>
            <a:ext cx="4553712" cy="142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 i="0">
                <a:solidFill>
                  <a:srgbClr val="1D2D44"/>
                </a:solidFill>
                <a:latin typeface="Calibri"/>
              </a:rPr>
              <a:t>run_demo.py chains all stages → outputs/REPORT.md. build_ppt.py generates the branded deck. Both are fully data-agnostic.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71830"/>
            <a:ext cx="4846320" cy="3801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871830"/>
            <a:ext cx="45720" cy="380129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" y="3908406"/>
            <a:ext cx="455371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60" b="1" i="0">
                <a:solidFill>
                  <a:srgbClr val="1D2D44"/>
                </a:solidFill>
                <a:latin typeface="Calibri"/>
              </a:rPr>
              <a:t>JSON run spec contract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" y="4054710"/>
            <a:ext cx="4553712" cy="142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 i="0">
                <a:solidFill>
                  <a:srgbClr val="1D2D44"/>
                </a:solidFill>
                <a:latin typeface="Calibri"/>
              </a:rPr>
              <a:t>spec.template.json defines what to provide (target, features, sentinels…) but never which values. Swap the spec, the rest is unchanged.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1097280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D2D44"/>
                </a:solidFill>
                <a:latin typeface="Calibri"/>
              </a:rPr>
              <a:t>EXAMPLE-SPECIFIC  —  provided by the analyst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1316736"/>
            <a:ext cx="3383280" cy="1412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40680" y="1316736"/>
            <a:ext cx="45720" cy="1412748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86984" y="1371600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D2D44"/>
                </a:solidFill>
                <a:latin typeface="Calibri"/>
              </a:rPr>
              <a:t>Config File  —  config.json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86984" y="1572768"/>
            <a:ext cx="309067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 i="1">
                <a:solidFill>
                  <a:srgbClr val="718096"/>
                </a:solidFill>
                <a:latin typeface="Calibri"/>
              </a:rPr>
              <a:t>structured &amp; technical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6984" y="1737360"/>
            <a:ext cx="3090672" cy="937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"/>
              </a:spcAft>
            </a:pPr>
            <a:r>
              <a:rPr sz="680">
                <a:solidFill>
                  <a:srgbClr val="1D2D44"/>
                </a:solidFill>
                <a:latin typeface="Calibri"/>
              </a:rPr>
              <a:t>•  Data file + dictionary (any CSV/Excel)</a:t>
            </a:r>
          </a:p>
          <a:p>
            <a:pPr>
              <a:spcAft>
                <a:spcPts val="120"/>
              </a:spcAft>
            </a:pPr>
            <a:r>
              <a:rPr sz="680">
                <a:solidFill>
                  <a:srgbClr val="1D2D44"/>
                </a:solidFill>
                <a:latin typeface="Calibri"/>
              </a:rPr>
              <a:t>•  Target derivation rule (e.g. responded = 1 where an ID is not null)</a:t>
            </a:r>
          </a:p>
          <a:p>
            <a:pPr>
              <a:spcAft>
                <a:spcPts val="120"/>
              </a:spcAft>
            </a:pPr>
            <a:r>
              <a:rPr sz="680">
                <a:solidFill>
                  <a:srgbClr val="1D2D44"/>
                </a:solidFill>
                <a:latin typeface="Calibri"/>
              </a:rPr>
              <a:t>•  Feature set (e.g. 26 EFX attributes) + missing/sentinel codes</a:t>
            </a:r>
          </a:p>
          <a:p>
            <a:pPr>
              <a:spcAft>
                <a:spcPts val="120"/>
              </a:spcAft>
            </a:pPr>
            <a:r>
              <a:rPr sz="680">
                <a:solidFill>
                  <a:srgbClr val="1D2D44"/>
                </a:solidFill>
                <a:latin typeface="Calibri"/>
              </a:rPr>
              <a:t>•  Leakage exclusions + time/stability column for validation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0680" y="2839212"/>
            <a:ext cx="3383280" cy="1412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40680" y="2839212"/>
            <a:ext cx="45720" cy="1412748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86984" y="2894076"/>
            <a:ext cx="309067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D2D44"/>
                </a:solidFill>
                <a:latin typeface="Calibri"/>
              </a:rPr>
              <a:t>Prompt  —  instructions to Claude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6984" y="3095244"/>
            <a:ext cx="309067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 i="1">
                <a:solidFill>
                  <a:srgbClr val="718096"/>
                </a:solidFill>
                <a:latin typeface="Calibri"/>
              </a:rPr>
              <a:t>business &amp; conversational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6984" y="3259836"/>
            <a:ext cx="3090672" cy="937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"/>
              </a:spcAft>
            </a:pPr>
            <a:r>
              <a:rPr sz="680">
                <a:solidFill>
                  <a:srgbClr val="1D2D44"/>
                </a:solidFill>
                <a:latin typeface="Calibri"/>
              </a:rPr>
              <a:t>•  Business goal &amp; direction (suppress vs target)</a:t>
            </a:r>
          </a:p>
          <a:p>
            <a:pPr>
              <a:spcAft>
                <a:spcPts val="120"/>
              </a:spcAft>
            </a:pPr>
            <a:r>
              <a:rPr sz="680">
                <a:solidFill>
                  <a:srgbClr val="1D2D44"/>
                </a:solidFill>
                <a:latin typeface="Calibri"/>
              </a:rPr>
              <a:t>•  Domain context the analyst already knows</a:t>
            </a:r>
          </a:p>
          <a:p>
            <a:pPr>
              <a:spcAft>
                <a:spcPts val="120"/>
              </a:spcAft>
            </a:pPr>
            <a:r>
              <a:rPr sz="680">
                <a:solidFill>
                  <a:srgbClr val="1D2D44"/>
                </a:solidFill>
                <a:latin typeface="Calibri"/>
              </a:rPr>
              <a:t>•  What “good” looks like / review criteria</a:t>
            </a:r>
          </a:p>
          <a:p>
            <a:pPr>
              <a:spcAft>
                <a:spcPts val="120"/>
              </a:spcAft>
            </a:pPr>
            <a:r>
              <a:rPr sz="680">
                <a:solidFill>
                  <a:srgbClr val="1D2D44"/>
                </a:solidFill>
                <a:latin typeface="Calibri"/>
              </a:rPr>
              <a:t>•  Ad-hoc guidance not worth encoding in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D2D44"/>
                </a:solidFill>
                <a:latin typeface="Calibri"/>
              </a:rPr>
              <a:t>Next Steps: Path B — Cold-Start Without Manual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384048"/>
            <a:ext cx="914400" cy="32004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Three capabilities so the agent builds the config file itself, learns over time, and stays within cost bounds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718096"/>
                </a:solidFill>
                <a:latin typeface="Calibri"/>
              </a:rPr>
              <a:t>© 2026 Zenon, LLC. All rights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731520"/>
            <a:ext cx="45720" cy="310896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73152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1D2D44"/>
                </a:solidFill>
                <a:latin typeface="Calibri"/>
              </a:rPr>
              <a:t>End state: prompt only → agent inspects, researches, drafts config.json, confirms, and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274320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2743200" cy="566928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79" y="1188720"/>
            <a:ext cx="292608" cy="292608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1188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D2D44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1170432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Calibri"/>
              </a:rPr>
              <a:t>Automate the Pipeline Before Path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1417319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C8A15A"/>
                </a:solidFill>
                <a:latin typeface="Calibri"/>
              </a:rPr>
              <a:t>multi-agent data prep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1737360"/>
            <a:ext cx="2487168" cy="14696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Domain Research Agent</a:t>
            </a:r>
            <a:r>
              <a:rPr lang="en-US" sz="800" dirty="0">
                <a:solidFill>
                  <a:srgbClr val="1D2D44"/>
                </a:solidFill>
                <a:latin typeface="Calibri"/>
              </a:rPr>
              <a:t>:</a:t>
            </a:r>
            <a:r>
              <a:rPr sz="800" dirty="0">
                <a:solidFill>
                  <a:srgbClr val="1D2D44"/>
                </a:solidFill>
                <a:latin typeface="Calibri"/>
              </a:rPr>
              <a:t> web-searches the problem type for standard/missing features</a:t>
            </a:r>
          </a:p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Data Collection Agent</a:t>
            </a:r>
            <a:r>
              <a:rPr lang="en-US" sz="800" dirty="0">
                <a:solidFill>
                  <a:srgbClr val="1D2D44"/>
                </a:solidFill>
                <a:latin typeface="Calibri"/>
              </a:rPr>
              <a:t>:</a:t>
            </a:r>
            <a:r>
              <a:rPr sz="800" dirty="0">
                <a:solidFill>
                  <a:srgbClr val="1D2D44"/>
                </a:solidFill>
                <a:latin typeface="Calibri"/>
              </a:rPr>
              <a:t> pulls from multiple source files or systems automatically</a:t>
            </a:r>
          </a:p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Data Cleaning Agent</a:t>
            </a:r>
            <a:r>
              <a:rPr lang="en-US" sz="800" dirty="0">
                <a:solidFill>
                  <a:srgbClr val="1D2D44"/>
                </a:solidFill>
                <a:latin typeface="Calibri"/>
              </a:rPr>
              <a:t>:</a:t>
            </a:r>
            <a:r>
              <a:rPr sz="800" dirty="0">
                <a:solidFill>
                  <a:srgbClr val="1D2D44"/>
                </a:solidFill>
                <a:latin typeface="Calibri"/>
              </a:rPr>
              <a:t> parses the dictionary, detects sentinels/</a:t>
            </a:r>
            <a:r>
              <a:rPr sz="800" dirty="0" err="1">
                <a:solidFill>
                  <a:srgbClr val="1D2D44"/>
                </a:solidFill>
                <a:latin typeface="Calibri"/>
              </a:rPr>
              <a:t>dtypes</a:t>
            </a:r>
            <a:r>
              <a:rPr sz="800" dirty="0">
                <a:solidFill>
                  <a:srgbClr val="1D2D44"/>
                </a:solidFill>
                <a:latin typeface="Calibri"/>
              </a:rPr>
              <a:t>/leakage</a:t>
            </a:r>
            <a:br>
              <a:rPr lang="en-US" sz="800" dirty="0">
                <a:solidFill>
                  <a:srgbClr val="1D2D44"/>
                </a:solidFill>
              </a:rPr>
            </a:br>
            <a:r>
              <a:rPr lang="en-US" sz="800" dirty="0">
                <a:solidFill>
                  <a:srgbClr val="1D2D44"/>
                </a:solidFill>
              </a:rPr>
              <a:t>• Modeling </a:t>
            </a:r>
            <a:r>
              <a:rPr lang="en-US" sz="800" dirty="0">
                <a:solidFill>
                  <a:srgbClr val="1D2D44"/>
                </a:solidFill>
                <a:latin typeface="Calibri"/>
              </a:rPr>
              <a:t>Research Agent: identifies the right type of analysis or modeling to perform and creates tools for </a:t>
            </a:r>
            <a:r>
              <a:rPr lang="en-US" sz="800" dirty="0">
                <a:solidFill>
                  <a:srgbClr val="1D2D44"/>
                </a:solidFill>
              </a:rPr>
              <a:t>the same based on the problem statement and the data availability.</a:t>
            </a:r>
            <a:endParaRPr sz="800" dirty="0">
              <a:solidFill>
                <a:srgbClr val="1D2D44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Outputs a draft </a:t>
            </a:r>
            <a:r>
              <a:rPr sz="800" dirty="0" err="1">
                <a:solidFill>
                  <a:srgbClr val="1D2D44"/>
                </a:solidFill>
                <a:latin typeface="Calibri"/>
              </a:rPr>
              <a:t>config.json</a:t>
            </a:r>
            <a:r>
              <a:rPr sz="800" dirty="0">
                <a:solidFill>
                  <a:srgbClr val="1D2D44"/>
                </a:solidFill>
                <a:latin typeface="Calibri"/>
              </a:rPr>
              <a:t> for one-step analyst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EFFORT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3355848"/>
            <a:ext cx="755903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D2D44"/>
                </a:solidFill>
                <a:latin typeface="Calibri"/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5399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95399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13687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TIMELINE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3687" y="3355848"/>
            <a:ext cx="75590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i="0" dirty="0">
                <a:solidFill>
                  <a:srgbClr val="1D2D44"/>
                </a:solidFill>
                <a:latin typeface="Calibri"/>
              </a:rPr>
              <a:t>~</a:t>
            </a:r>
            <a:r>
              <a:rPr sz="900" b="1" i="0" dirty="0">
                <a:solidFill>
                  <a:srgbClr val="1D2D44"/>
                </a:solidFill>
                <a:latin typeface="Calibri"/>
              </a:rPr>
              <a:t>3 w</a:t>
            </a:r>
            <a:r>
              <a:rPr lang="en-US" sz="900" b="1" i="0" dirty="0">
                <a:solidFill>
                  <a:srgbClr val="1D2D44"/>
                </a:solidFill>
                <a:latin typeface="Calibri"/>
              </a:rPr>
              <a:t>ee</a:t>
            </a:r>
            <a:r>
              <a:rPr sz="900" b="1" i="0" dirty="0">
                <a:solidFill>
                  <a:srgbClr val="1D2D44"/>
                </a:solidFill>
                <a:latin typeface="Calibri"/>
              </a:rPr>
              <a:t>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2743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42743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61031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1031" y="3355848"/>
            <a:ext cx="755903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D2D44"/>
                </a:solidFill>
                <a:latin typeface="Calibri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" y="3639312"/>
            <a:ext cx="2487168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694176"/>
            <a:ext cx="2487168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manual column review, dictionary reading, target/leakage selection, and config authoring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1097280"/>
            <a:ext cx="274320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0" y="1097280"/>
            <a:ext cx="2743200" cy="566928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0" y="1188720"/>
            <a:ext cx="292608" cy="292608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1188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D2D44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7" y="1170432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 i="0" dirty="0">
                <a:solidFill>
                  <a:srgbClr val="FFFFFF"/>
                </a:solidFill>
                <a:latin typeface="Calibri"/>
              </a:rPr>
              <a:t>Persistent Memory Across Runs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1417319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C8A15A"/>
                </a:solidFill>
                <a:latin typeface="Calibri"/>
              </a:rPr>
              <a:t>warm-start every campaign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28416" y="1737360"/>
            <a:ext cx="248716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Remembers accepted / rejected segment rules across campaigns</a:t>
            </a:r>
          </a:p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Remembers dataset-specific quirks — sentinel codes, leakage columns, feature mappings</a:t>
            </a:r>
          </a:p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New runs on the same or similar data warm-start instead of rediscovering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28416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28416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46704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EFFORT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46704" y="3355848"/>
            <a:ext cx="755903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D2D44"/>
                </a:solidFill>
                <a:latin typeface="Calibri"/>
              </a:rP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75760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75760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94047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TIMELINE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94047" y="3355848"/>
            <a:ext cx="75590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dirty="0">
                <a:solidFill>
                  <a:srgbClr val="1D2D44"/>
                </a:solidFill>
                <a:latin typeface="Calibri"/>
              </a:rPr>
              <a:t>1–2 w</a:t>
            </a:r>
            <a:r>
              <a:rPr lang="en-US" sz="900" b="1" i="0" dirty="0">
                <a:solidFill>
                  <a:srgbClr val="1D2D44"/>
                </a:solidFill>
                <a:latin typeface="Calibri"/>
              </a:rPr>
              <a:t>ee</a:t>
            </a:r>
            <a:r>
              <a:rPr sz="900" b="1" i="0" dirty="0">
                <a:solidFill>
                  <a:srgbClr val="1D2D44"/>
                </a:solidFill>
                <a:latin typeface="Calibri"/>
              </a:rPr>
              <a:t>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3104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23104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41391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1391" y="3355848"/>
            <a:ext cx="755903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D2D44"/>
                </a:solidFill>
                <a:latin typeface="Calibri"/>
              </a:rPr>
              <a:t>Medium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28416" y="3639312"/>
            <a:ext cx="2487168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28416" y="3694176"/>
            <a:ext cx="2487168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re-running full discovery and re-teaching the same dataset quirks every campaign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59" y="1097280"/>
            <a:ext cx="2743200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080759" y="1097280"/>
            <a:ext cx="2743200" cy="566928"/>
          </a:xfrm>
          <a:prstGeom prst="rect">
            <a:avLst/>
          </a:prstGeom>
          <a:solidFill>
            <a:srgbClr val="1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172199" y="1188720"/>
            <a:ext cx="292608" cy="292608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72199" y="1188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D2D44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56248" y="1170432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1" i="0" dirty="0">
                <a:solidFill>
                  <a:srgbClr val="FFFFFF"/>
                </a:solidFill>
                <a:latin typeface="Calibri"/>
              </a:rPr>
              <a:t>Self-Correcting Loop With Guardrails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56248" y="1417319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C8A15A"/>
                </a:solidFill>
                <a:latin typeface="Calibri"/>
              </a:rPr>
              <a:t>bounded autonomy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08775" y="1737360"/>
            <a:ext cx="248716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Agent re-checks assumptions and refines the spec until a preset objective is met (e.g. min lift, size, stability)</a:t>
            </a:r>
          </a:p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Hard caps on iterations / token spend stop runaway cost</a:t>
            </a:r>
          </a:p>
          <a:p>
            <a:pPr>
              <a:spcAft>
                <a:spcPts val="300"/>
              </a:spcAft>
            </a:pPr>
            <a:r>
              <a:rPr sz="800" dirty="0">
                <a:solidFill>
                  <a:srgbClr val="1D2D44"/>
                </a:solidFill>
                <a:latin typeface="Calibri"/>
              </a:rPr>
              <a:t>•  Escalates to the analyst if the objective isn't met within budget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08775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08775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27063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EFFORT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27063" y="3355848"/>
            <a:ext cx="755903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D2D44"/>
                </a:solidFill>
                <a:latin typeface="Calibri"/>
              </a:rPr>
              <a:t>High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6119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056119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074407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TIMELINE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74407" y="3355848"/>
            <a:ext cx="75590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i="0" dirty="0">
                <a:solidFill>
                  <a:srgbClr val="1D2D44"/>
                </a:solidFill>
                <a:latin typeface="Calibri"/>
              </a:rPr>
              <a:t>~</a:t>
            </a:r>
            <a:r>
              <a:rPr sz="900" b="1" i="0" dirty="0">
                <a:solidFill>
                  <a:srgbClr val="1D2D44"/>
                </a:solidFill>
                <a:latin typeface="Calibri"/>
              </a:rPr>
              <a:t>4 w</a:t>
            </a:r>
            <a:r>
              <a:rPr lang="en-US" sz="900" b="1" i="0" dirty="0">
                <a:solidFill>
                  <a:srgbClr val="1D2D44"/>
                </a:solidFill>
                <a:latin typeface="Calibri"/>
              </a:rPr>
              <a:t>ee</a:t>
            </a:r>
            <a:r>
              <a:rPr sz="900" b="1" i="0" dirty="0">
                <a:solidFill>
                  <a:srgbClr val="1D2D44"/>
                </a:solidFill>
                <a:latin typeface="Calibri"/>
              </a:rPr>
              <a:t>ks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03463" y="3182112"/>
            <a:ext cx="792479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903463" y="3182112"/>
            <a:ext cx="792479" cy="27432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21751" y="3236976"/>
            <a:ext cx="755903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1" i="0">
                <a:solidFill>
                  <a:srgbClr val="718096"/>
                </a:solidFill>
                <a:latin typeface="Calibri"/>
              </a:rPr>
              <a:t>IMPACT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21751" y="3355848"/>
            <a:ext cx="755903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D2D44"/>
                </a:solidFill>
                <a:latin typeface="Calibri"/>
              </a:rPr>
              <a:t>High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08775" y="3639312"/>
            <a:ext cx="2487168" cy="12801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08775" y="3694176"/>
            <a:ext cx="2487168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0" b="0" i="1">
                <a:solidFill>
                  <a:srgbClr val="718096"/>
                </a:solidFill>
                <a:latin typeface="Calibri"/>
              </a:rPr>
              <a:t>Replaces: single-shot manual review; unattended long-running agents with no cost ceiling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297680"/>
            <a:ext cx="85039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20040" y="4297680"/>
            <a:ext cx="45720" cy="310896"/>
          </a:xfrm>
          <a:prstGeom prst="rect">
            <a:avLst/>
          </a:prstGeom>
          <a:solidFill>
            <a:srgbClr val="C8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21207" y="4297680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D2D44"/>
                </a:solidFill>
                <a:latin typeface="Calibri"/>
              </a:rPr>
              <a:t>Total investment: ~8–12 weeks, phased   →   manual setup drops from ~1 day to minutes per dataset, with cost bounded by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unctions xmlns="95b248c1-8001-4b31-82a9-b788a71d9657">
      <Value>Others</Value>
    </Functions>
    <Skills xmlns="95b248c1-8001-4b31-82a9-b788a71d9657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7475FABDB7754F9FF50381C508918F" ma:contentTypeVersion="10" ma:contentTypeDescription="Create a new document." ma:contentTypeScope="" ma:versionID="29148ed48be9ea64df027db204fc1c6e">
  <xsd:schema xmlns:xsd="http://www.w3.org/2001/XMLSchema" xmlns:xs="http://www.w3.org/2001/XMLSchema" xmlns:p="http://schemas.microsoft.com/office/2006/metadata/properties" xmlns:ns2="95b248c1-8001-4b31-82a9-b788a71d9657" targetNamespace="http://schemas.microsoft.com/office/2006/metadata/properties" ma:root="true" ma:fieldsID="a57b09182cebf370c1df8ff2537c6380" ns2:_="">
    <xsd:import namespace="95b248c1-8001-4b31-82a9-b788a71d96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Functions" minOccurs="0"/>
                <xsd:element ref="ns2:Skills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b248c1-8001-4b31-82a9-b788a71d96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Functions" ma:index="16" nillable="true" ma:displayName="Function" ma:default="Others" ma:description="Name of Function" ma:format="Dropdown" ma:internalName="Functions" ma:requiredMultiChoice="true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nalytics"/>
                        <xsd:enumeration value="Software"/>
                        <xsd:enumeration value="Services"/>
                        <xsd:enumeration value="Others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Skills" ma:index="17" ma:displayName="Skills" ma:description="Add multiple Tags to filter profile." ma:format="Dropdown" ma:internalName="Skill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3C6CA0-EFE3-4D5F-89D3-100397768F24}">
  <ds:schemaRefs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http://purl.org/dc/dcmitype/"/>
    <ds:schemaRef ds:uri="0d7b015c-56d7-41df-9266-b742764ba8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67853456-3ee1-4edc-9403-335e2be123a6"/>
    <ds:schemaRef ds:uri="95b248c1-8001-4b31-82a9-b788a71d9657"/>
  </ds:schemaRefs>
</ds:datastoreItem>
</file>

<file path=customXml/itemProps2.xml><?xml version="1.0" encoding="utf-8"?>
<ds:datastoreItem xmlns:ds="http://schemas.openxmlformats.org/officeDocument/2006/customXml" ds:itemID="{758ED48B-B409-48A1-B1E3-BE86ADC325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D0A70-04C4-4860-ACC3-87918A8C21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b248c1-8001-4b31-82a9-b788a71d96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760</Words>
  <Application>Microsoft Office PowerPoint</Application>
  <PresentationFormat>On-screen Show (16:9)</PresentationFormat>
  <Paragraphs>79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Zenon Overview</dc:title>
  <dc:subject>PptxGenJS Presentation</dc:subject>
  <dc:creator>Zenon, LLC</dc:creator>
  <cp:lastModifiedBy>Adarsh Kuthuru</cp:lastModifiedBy>
  <cp:revision>11</cp:revision>
  <dcterms:created xsi:type="dcterms:W3CDTF">2026-02-18T19:12:28Z</dcterms:created>
  <dcterms:modified xsi:type="dcterms:W3CDTF">2026-07-01T17:53:45Z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0x010100A17475FABDB7754F9FF50381C508918F</vt:lpwstr>
  </property>
  <property fmtid="{D5CDD505-2E9C-101B-9397-08002B2CF9AE}" pid="3" name="MediaServiceImageTags">
    <vt:lpwstr/>
  </property>
</Properties>
</file>