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Credit Card Direct 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5A623"/>
                </a:solidFill>
              </a:rPr>
              <a:t>Suppression Segment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5A5A6"/>
                </a:solidFill>
              </a:rPr>
              <a:t>Automated overnight run  |  June 22,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5A5A6"/>
                </a:solidFill>
              </a:rPr>
              <a:t>Powered by Zenon Segment Discovery  |  100,000 prospects  |  Equifax bureau attributes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Zenon AI  |  Segment Discovery  |  2026-06-22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0152" y="6556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5A5A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5A5A6"/>
                </a:solidFill>
              </a:rPr>
              <a:t>What did the overnight run find?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560320" cy="1417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9047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0.41%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BAU Response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1325880"/>
            <a:ext cx="2560320" cy="141732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49047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Suppression Segments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88736" y="1325880"/>
            <a:ext cx="2560320" cy="141732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8736" y="149047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~11%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Avg Segment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50224" y="1325880"/>
            <a:ext cx="2560320" cy="141732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0224" y="149047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0.58-0.64x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Lift vs BAU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100,000 business credit card prospects were scored across 3 monthly mail drops (Jan-Mar 2026).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410 submitted an application (0.41% response rate). 84 ultimately booked a card (0.086% booking rate).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210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Segment discovery identified 3 distinct suppression segments — prospects who respond at 0.58-0.64x BAU.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684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Each segment covers ~11% of the list. Applying any two suppresses ~20% of mail with minimal revenue loss.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159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All three segments remain below BAU in every monthly cohort, confirming pattern persistence.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Top global drivers: bankcard utilization, total open balance, trade age, and FICO — mechanistically sound.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562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Zenon AI  |  Segment Discovery  |  2026-06-22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0152" y="6556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5A5A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Setup - Target &amp; Leakage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5A5A6"/>
                </a:solidFill>
              </a:rPr>
              <a:t>What was used, what was excluded,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651760" cy="38404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Campaign / Identity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09928"/>
            <a:ext cx="2651760" cy="4370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SRC_ID (ID - excluded)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6974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SOLICITATION_ID (ID - excluded)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5661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ACCT_ID (ID - excluded)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4348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TEST_CELL_DROP_DATE
(time/stability column)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325880"/>
            <a:ext cx="265176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TARGET (response)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709928"/>
            <a:ext cx="2651760" cy="4370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18288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BCP_APPLICATION_ID
-&gt; from_notnull = 1 if applied
-&gt; 410 responders / 100k
-&gt; Base rate: 0.41%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325880"/>
            <a:ext cx="2651760" cy="384048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LEAKAGE - excluded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709928"/>
            <a:ext cx="2651760" cy="4370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8288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BCP_ACCOUNT_ID
(known only post-outcome)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26974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BCP_APPLICATION_
RECEIVED_DATE
(known only post-outcome)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1325880"/>
            <a:ext cx="2651760" cy="384048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 Space (26)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709928"/>
            <a:ext cx="2651760" cy="4370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18288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FICO, CURRENT_INCOME, PV
+ 23 Equifax bureau attributes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6974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One bureau per metric to
avoid tri-bureau redundancy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35661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Sentinels -&gt; NaN:
997/998/999
9999997/9999998/9999999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Zenon AI  |  Segment Discovery  |  2026-06-22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0152" y="6556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5A5A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v0 - Best Single-Feature 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5A5A6"/>
                </a:solidFill>
              </a:rPr>
              <a:t>Single features alone are weak - motivates the multi-feature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8869680" cy="384048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3502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33502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Rule (plain English)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350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Size%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3350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Resp%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33502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Lift vs BAU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8869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282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CURRENT_INCOME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72821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Income $292k-$346k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282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1.71%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7282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0.059%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72821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2D20"/>
                </a:solidFill>
              </a:rPr>
              <a:t>0.143x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48256"/>
            <a:ext cx="886968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11226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PV (modeled)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112264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PV between -521 and -512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12264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1.43%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112264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0.070%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11226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2D20"/>
                </a:solidFill>
              </a:rPr>
              <a:t>0.171x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32304"/>
            <a:ext cx="8869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49631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EFX_BC_TRDAGE_1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2496312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Oldest BC trade age 202-210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9631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3.57%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49631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0.140%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49631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2D20"/>
                </a:solidFill>
              </a:rPr>
              <a:t>0.342x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16352"/>
            <a:ext cx="886968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88036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EFX_BC_TRDAGE_3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288036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Most recent BC trade age &gt; 55.5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880360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2.08%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880360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0.144%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8803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2D20"/>
                </a:solidFill>
              </a:rPr>
              <a:t>0.351x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200400"/>
            <a:ext cx="8869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2644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EFX_AL_TRDAGE_1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3264408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All-trade age 55.5-78.5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26440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4.01%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326440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0.175%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26440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2D20"/>
                </a:solidFill>
              </a:rPr>
              <a:t>0.426x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584448"/>
            <a:ext cx="886968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6484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EFX_AL_TRDCNT_1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364845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Total open trades &gt; 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64845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1.69%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364845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0.178%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364845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2D20"/>
                </a:solidFill>
              </a:rPr>
              <a:t>0.434x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968496"/>
            <a:ext cx="8869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03250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EFX_BC_BAL_1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4032504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BC open balance $31k-$44k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032504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4.22%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032504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0.190%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403250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2D20"/>
                </a:solidFill>
              </a:rPr>
              <a:t>0.462x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352544"/>
            <a:ext cx="886968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41655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EFX_BC_BAL_5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7440" y="4416552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BC balance (closed) $1.1k-$2.2k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441655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11.08%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441655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0.235%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441655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2D20"/>
                </a:solidFill>
              </a:rPr>
              <a:t>0.572x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736592"/>
            <a:ext cx="8869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80060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EFX_BC_TRDCNT_4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77440" y="480060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Derogatory BC trades &gt;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800600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2.12%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3760" y="4800600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0.236%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480060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2D20"/>
                </a:solidFill>
              </a:rPr>
              <a:t>0.576x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120640"/>
            <a:ext cx="886968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518464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EFX_BC_TRDAGE_2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7440" y="5184648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BC trade age (opened in 1yr) 64.5-82.5 months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518464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10.09%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0" y="518464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0.238%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518464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2D20"/>
                </a:solidFill>
              </a:rPr>
              <a:t>0.580x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</a:rPr>
              <a:t>* No single cut achieves the lift needed for production suppression. Multi-feature search is required.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65562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Zenon AI  |  Segment Discovery  |  2026-06-22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60152" y="6556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5A5A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v1 - Top Multi-Feature Suppression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5A5A6"/>
                </a:solidFill>
              </a:rPr>
              <a:t>Ranked by quality score (lift x coverage); top 3 shown in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5204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D6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520440" cy="45720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#1 - Clean-History Mid-FICO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2996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2D20"/>
                </a:solidFill>
              </a:rPr>
              <a:t>10,947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3172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Size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328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2D20"/>
                </a:solidFill>
              </a:rPr>
              <a:t>10.95%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Response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3580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2D20"/>
                </a:solidFill>
              </a:rPr>
              <a:t>0.238%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3756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Lift vs BAU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53872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2D20"/>
                </a:solidFill>
              </a:rPr>
              <a:t>0.579x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319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3E50"/>
                </a:solidFill>
              </a:rPr>
              <a:t>Plain-English Rule: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1330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No DQ in 60 months AND no BC DQ in 36 months AND FICO 664-694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68172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3E50"/>
                </a:solidFill>
              </a:rPr>
              <a:t>Technical rule: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8289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</a:rPr>
              <a:t>EFX_AL_DQOCURNC_5==0 AND EFX_BC_DQOCURNC_3==0 AND FICO in [664, 694)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413247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3E50"/>
                </a:solidFill>
              </a:rPr>
              <a:t>Why suppress: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614416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</a:rPr>
              <a:t>Mid-FICO prospects with spotless delinquency history are disengaged from new credit solicitations — likely already well-served by existing products.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1280160"/>
            <a:ext cx="35204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1280160"/>
            <a:ext cx="3520440" cy="45720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13258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#2 - Low-Inquiry Low-Utilization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182880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02996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300"/>
                </a:solidFill>
              </a:rPr>
              <a:t>10,881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33172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Size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5328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300"/>
                </a:solidFill>
              </a:rPr>
              <a:t>10.88%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83464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Response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03580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300"/>
                </a:solidFill>
              </a:rPr>
              <a:t>0.239%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33756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Lift vs BAU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53872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300"/>
                </a:solidFill>
              </a:rPr>
              <a:t>0.583x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9319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3E50"/>
                </a:solidFill>
              </a:rPr>
              <a:t>Plain-English Rule: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1330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No DQ in 12 months AND no BC inquiries in 6 months AND BC utilization 16-35%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68172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3E50"/>
                </a:solidFill>
              </a:rPr>
              <a:t>Technical rule: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88289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</a:rPr>
              <a:t>EFX_AL_DQOCURNC_1==0 AND EFX_BC_INQCNT_1==0 AND EFX_BC_UTIL_1 in [16, 35)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413247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3E50"/>
                </a:solidFill>
              </a:rPr>
              <a:t>Why suppress: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614416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</a:rPr>
              <a:t>Prospects actively managing utilization in the optimal range with no recent inquiries — credit-aware but not shopping for new products right now.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80" y="1280160"/>
            <a:ext cx="35204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26680" y="1280160"/>
            <a:ext cx="352044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13258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#3 - No-BC-DQ Low-Inquiry Mid-FICO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182880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Size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202996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7B4"/>
                </a:solidFill>
              </a:rPr>
              <a:t>10,616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233172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Size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25328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7B4"/>
                </a:solidFill>
              </a:rPr>
              <a:t>10.62%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283464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Response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303580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7B4"/>
                </a:solidFill>
              </a:rPr>
              <a:t>0.254%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333756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5A5A6"/>
                </a:solidFill>
              </a:rPr>
              <a:t>Lift vs BAU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353872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7B4"/>
                </a:solidFill>
              </a:rPr>
              <a:t>0.620x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39319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3E50"/>
                </a:solidFill>
              </a:rPr>
              <a:t>Plain-English Rule: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41330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No BC DQ in 36 months AND no BC inquiries in 6 months AND FICO 664-694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468172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3E50"/>
                </a:solidFill>
              </a:rPr>
              <a:t>Technical rule: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20" y="488289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</a:rPr>
              <a:t>EFX_BC_DQOCURNC_3==0 AND EFX_BC_INQCNT_1==0 AND FICO in [664, 694)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5413247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3E50"/>
                </a:solidFill>
              </a:rPr>
              <a:t>Why suppress: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8120" y="5614416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</a:rPr>
              <a:t>Bankcard-clean mid-FICO prospects not actively seeking credit. Pattern overlaps with #1 but anchors on recent BC behavior + inquiry silence.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5562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Zenon AI  |  Segment Discovery  |  2026-06-22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60152" y="6556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5A5A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v2 - Stability Across Monthly Mail 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5A5A6"/>
                </a:solidFill>
              </a:rPr>
              <a:t>Response rate per segment in each of the 3 monthly cohorts vs BAU (0.41%)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1274552" cy="50292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16736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16736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Jan 2026
Resp%  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316736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Feb 2026
Resp%  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16736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Mar 2026
Resp%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31673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Overall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316736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Below BAU
All Periods?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347472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965960"/>
            <a:ext cx="33832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#1 Clean-History Mid-FICO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1783080"/>
            <a:ext cx="173736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1965960"/>
            <a:ext cx="164591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0.247%  (3,650)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1783080"/>
            <a:ext cx="173736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6984" y="1965960"/>
            <a:ext cx="164591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0.194%  (3,610)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783080"/>
            <a:ext cx="173736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4344" y="1965960"/>
            <a:ext cx="164591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0.271%  (3,687)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783080"/>
            <a:ext cx="118872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4" y="1965960"/>
            <a:ext cx="10972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2D20"/>
                </a:solidFill>
              </a:rPr>
              <a:t>0.579x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60" y="1783080"/>
            <a:ext cx="1399032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50424" y="1965960"/>
            <a:ext cx="130759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441448"/>
            <a:ext cx="34747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2624328"/>
            <a:ext cx="33832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#2 Low-Inquiry Low-Util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2441448"/>
            <a:ext cx="1737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9624" y="2624328"/>
            <a:ext cx="164591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0.249%  (3,615)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2441448"/>
            <a:ext cx="1737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4" y="2624328"/>
            <a:ext cx="164591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0.247%  (3,650)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2441448"/>
            <a:ext cx="1737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24344" y="2624328"/>
            <a:ext cx="164591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0.221%  (3,616)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2441448"/>
            <a:ext cx="11887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61704" y="2624328"/>
            <a:ext cx="10972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2D20"/>
                </a:solidFill>
              </a:rPr>
              <a:t>0.583x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2441448"/>
            <a:ext cx="1399032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0424" y="2624328"/>
            <a:ext cx="130759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099816"/>
            <a:ext cx="347472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3282696"/>
            <a:ext cx="33832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#3 No-BC-DQ Low-Inquiry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94760" y="3099816"/>
            <a:ext cx="173736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9624" y="3282696"/>
            <a:ext cx="164591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0.284%  (3,520)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3099816"/>
            <a:ext cx="173736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86984" y="3282696"/>
            <a:ext cx="164591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0.228%  (3,506)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3099816"/>
            <a:ext cx="173736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24344" y="3282696"/>
            <a:ext cx="164591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0.251%  (3,590)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40" y="3099816"/>
            <a:ext cx="118872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61704" y="3282696"/>
            <a:ext cx="10972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2D20"/>
                </a:solidFill>
              </a:rPr>
              <a:t>0.620x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95560" y="3099816"/>
            <a:ext cx="1399032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50424" y="3282696"/>
            <a:ext cx="130759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895344"/>
            <a:ext cx="11548872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98678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BAU: 0.41%  |  All 3 segments remain below BAU in every monthly cohort.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035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</a:rPr>
              <a:t>Note: The automated stability tool applies a strict 50%-of-BAU threshold (0.205%). All segments exceed this in at least one period. Recommend monitoring for 2 additional mail cycles before hardening the suppression file.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5562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Zenon AI  |  Segment Discovery  |  2026-06-22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60152" y="6556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5A5A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Stage v3 - Global Feature Drivers (SHAP)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5A5A6"/>
                </a:solidFill>
              </a:rPr>
              <a:t>What attributes drive response propensity — confirms segment mechanistic soundness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C3E50"/>
                </a:solidFill>
              </a:rPr>
              <a:t>BC Utilization (EFX_BC_UTIL_1)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17320"/>
            <a:ext cx="7589520" cy="3657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5952" y="1417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0.0578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74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C3E50"/>
                </a:solidFill>
              </a:rPr>
              <a:t>Total Open Balance (EFX_AL_BAL_1)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874520"/>
            <a:ext cx="7471344" cy="36576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27776" y="1874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0.0569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C3E50"/>
                </a:solidFill>
              </a:rPr>
              <a:t>All-Trade Age (EFX_AL_TRDAGE_1)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331720"/>
            <a:ext cx="4687644" cy="3657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4076" y="2331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0.0357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C3E50"/>
                </a:solidFill>
              </a:rPr>
              <a:t>FICO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788920"/>
            <a:ext cx="4608860" cy="36576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292" y="2788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0.0351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C3E50"/>
                </a:solidFill>
              </a:rPr>
              <a:t>DQ Occurrences 36mo (EFX_AL_DQOCURNC_3)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246120"/>
            <a:ext cx="4044242" cy="365760"/>
          </a:xfrm>
          <a:prstGeom prst="rect">
            <a:avLst/>
          </a:prstGeom>
          <a:solidFill>
            <a:srgbClr val="D6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0674" y="3246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0.0308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C3E50"/>
                </a:solidFill>
              </a:rPr>
              <a:t>BC Balance Closed (EFX_BC_BAL_5)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703320"/>
            <a:ext cx="3217011" cy="36576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3443" y="3703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0.0245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C3E50"/>
                </a:solidFill>
              </a:rPr>
              <a:t>Oldest BC Trade Age (EFX_BC_TRDAGE_1)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160520"/>
            <a:ext cx="2941267" cy="3657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7699" y="4160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0.0224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C3E50"/>
                </a:solidFill>
              </a:rPr>
              <a:t>All-Trade Count (EFX_AL_TRDCNT_1)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617720"/>
            <a:ext cx="2796830" cy="36576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3262" y="4617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0.0213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C3E50"/>
                </a:solidFill>
              </a:rPr>
              <a:t>BC Inquiries 24mo (EFX_BC_INQCNT_4)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5074920"/>
            <a:ext cx="2652392" cy="36576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8824" y="5074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0.0202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C3E50"/>
                </a:solidFill>
              </a:rPr>
              <a:t>BC Trade Count (EFX_BC_TRDCNT_1)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5532120"/>
            <a:ext cx="2507955" cy="3657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64387" y="5532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0.0191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486400"/>
            <a:ext cx="11548872" cy="91440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532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Interpretation:  BC utilization and total balance dominate — prospects carrying substantial but not maxed-out balances with long trade histories are least likely to respond. FICO and delinquency history are also significant. The top segments anchor on FICO + DQ/inquiry patterns, fully consistent with this SHAP ranking.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562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Zenon AI  |  Segment Discovery  |  2026-06-22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0152" y="6556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5A5A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Suppression Impact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5A5A6"/>
                </a:solidFill>
              </a:rPr>
              <a:t>How much mail can we cut, and what do we do next?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1338560" cy="475488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99032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990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Prospects Suppressed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39903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Responses Avoided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9903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Mail Budget Saved*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399032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Revenue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01368"/>
            <a:ext cx="347472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91109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#1 Clean-History Mid-FICO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801368"/>
            <a:ext cx="201168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9110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10,947  (10.9%)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01368"/>
            <a:ext cx="192024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91109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~26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80" y="1801368"/>
            <a:ext cx="182880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91109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~$109k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1801368"/>
            <a:ext cx="210312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911096"/>
            <a:ext cx="2011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Very 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276856"/>
            <a:ext cx="34747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38658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#2 Low-Inquiry Low-Util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2276856"/>
            <a:ext cx="20116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23865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10,881  (10.9%)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2276856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3865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~26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80" y="2276856"/>
            <a:ext cx="1828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3865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~$109k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5480" y="2276856"/>
            <a:ext cx="21031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386584"/>
            <a:ext cx="2011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Very 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752344"/>
            <a:ext cx="347472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86207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#3 No-BC-DQ Low-Inquiry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2752344"/>
            <a:ext cx="201168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28620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10,616  (10.6%)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2752344"/>
            <a:ext cx="192024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2862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~27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80" y="2752344"/>
            <a:ext cx="182880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28620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~$106k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2752344"/>
            <a:ext cx="210312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2862072"/>
            <a:ext cx="2011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Very 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227832"/>
            <a:ext cx="34747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33756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All 3 (est. union)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3227832"/>
            <a:ext cx="20116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0" y="33375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~28,000  (28%)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3227832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33375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~75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26680" y="3227832"/>
            <a:ext cx="1828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33375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~$280k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55480" y="3227832"/>
            <a:ext cx="21031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3337560"/>
            <a:ext cx="2011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37764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</a:rPr>
              <a:t>* Assumes $10/piece DM cost. Responses avoided = segment size x response rate.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572000"/>
            <a:ext cx="11548872" cy="292608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6177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4892040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1. ACCEPT segments #1 and #2 for the next mail drop - consistent suppression below BAU, &gt;10% list savings each.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5212080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2. MONITOR segment #3 for one more cycle - response is below BAU but closest to threshold (0.62x vs 0.58x).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5532120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3. UNION the three segments to build a suppression file of ~28,000 records (~28% list reduction).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5852160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4. TRACK booking outcomes (BCP_ACCOUNT_ID) as additional cycles accumulate to validate revenue-neutral suppression.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6172200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5. RE-RUN this automated job after the next mail drop to refresh segments with new cohort data.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65562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Zenon AI  |  Segment Discovery  |  2026-06-22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60152" y="6556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5A5A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Appendix - Run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5A5A6"/>
                </a:solidFill>
              </a:rPr>
              <a:t>config.json used for this automated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1548872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Run name:         credit_card_suppression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Data:             data/Sample_Data.csv   (100,000 rows x 79 columns)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6654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Target:           BCP_APPLICATION_ID -&gt; from_notnull  (1 = applied, 0 = did not apply)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6829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Direction:        suppression  (find groups that respond LESS than BAU)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700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ID columns:       SRC_ID, SOLICITATION_ID, ACCT_ID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Excluded (leakage): BCP_ACCOUNT_ID, BCP_APPLICATION_RECEIVED_DATE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735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Time column:      TEST_CELL_DROP_DATE  (3 monthly cohorts: Jan, Feb, Mar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7530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Features (26):    FICO, CURRENT_INCOME, PV + 23 Equifax bureau attributes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7705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  Bureau choice:  One bureau per metric to eliminate tri-bureau redundancy (Equifax preferred)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78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  Categories:     balances, trade counts, trade ages, inquiries, DQ occurrences, utilization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Missing sentinels treated as NaN: 997, 998, 999, 9999997, 9999998, 9999999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823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Min segment size: 1.0% of population (&gt;= 1,000 records)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8406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858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Run date:         June 22,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875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Toolchain:        python-pptx 1.0.2  |  pysubgroup  |  SHAP  |  scikit-learn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562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Zenon AI  |  Segment Discovery  |  2026-06-22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0152" y="6556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5A5A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