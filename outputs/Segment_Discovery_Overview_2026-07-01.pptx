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F46"/>
    <a:srgbClr val="C7A059"/>
    <a:srgbClr val="F5F5F5"/>
    <a:srgbClr val="D4B074"/>
    <a:srgbClr val="E6D6BB"/>
    <a:srgbClr val="1D2D44"/>
    <a:srgbClr val="C8A15A"/>
    <a:srgbClr val="1E2761"/>
    <a:srgbClr val="C75B5B"/>
    <a:srgbClr val="2D6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BCE333-6720-9146-A1EC-737ACBB8CE4D}" v="20" dt="2026-04-24T13:52:58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12"/>
    <p:restoredTop sz="70121" autoAdjust="0"/>
  </p:normalViewPr>
  <p:slideViewPr>
    <p:cSldViewPr snapToGrid="0" snapToObjects="1">
      <p:cViewPr varScale="1">
        <p:scale>
          <a:sx n="88" d="100"/>
          <a:sy n="88" d="100"/>
        </p:scale>
        <p:origin x="10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3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67120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 dirty="0">
                <a:solidFill>
                  <a:srgbClr val="1D2D44"/>
                </a:solidFill>
                <a:latin typeface="Calibri"/>
              </a:rPr>
              <a:t>Solution Architecture: What</a:t>
            </a:r>
            <a:r>
              <a:rPr lang="en-US" sz="1600" b="1" dirty="0">
                <a:solidFill>
                  <a:srgbClr val="1D2D44"/>
                </a:solidFill>
                <a:latin typeface="Calibri"/>
              </a:rPr>
              <a:t> components are</a:t>
            </a:r>
            <a:r>
              <a:rPr sz="1600" b="1" i="0" dirty="0">
                <a:solidFill>
                  <a:srgbClr val="1D2D44"/>
                </a:solidFill>
                <a:latin typeface="Calibri"/>
              </a:rPr>
              <a:t> </a:t>
            </a:r>
            <a:r>
              <a:rPr lang="en-US" sz="1600" b="1" dirty="0">
                <a:solidFill>
                  <a:srgbClr val="1D2D44"/>
                </a:solidFill>
                <a:latin typeface="Calibri"/>
              </a:rPr>
              <a:t>Domain Agnostic</a:t>
            </a:r>
            <a:r>
              <a:rPr sz="1600" b="1" i="0" dirty="0">
                <a:solidFill>
                  <a:srgbClr val="1D2D44"/>
                </a:solidFill>
                <a:latin typeface="Calibri"/>
              </a:rPr>
              <a:t> vs What’s</a:t>
            </a:r>
            <a:r>
              <a:rPr lang="en-US" sz="1600" b="1" i="0" dirty="0">
                <a:solidFill>
                  <a:srgbClr val="1D2D44"/>
                </a:solidFill>
                <a:latin typeface="Calibri"/>
              </a:rPr>
              <a:t> Not</a:t>
            </a:r>
            <a:endParaRPr sz="1600" b="1" i="0" dirty="0">
              <a:solidFill>
                <a:srgbClr val="1D2D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0040" y="384048"/>
            <a:ext cx="914400" cy="32004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8503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Generic components work on any dataset — example-specific facts live in the config file or the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© 2026 Zenon, LLC.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31520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1D2D44"/>
                </a:solidFill>
                <a:latin typeface="Calibri"/>
              </a:rPr>
              <a:t>DOMAIN-AGNOSTIC  —  reusable for any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9264"/>
            <a:ext cx="4846320" cy="4376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69264"/>
            <a:ext cx="45720" cy="437605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" y="996696"/>
            <a:ext cx="459028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1D2D44"/>
                </a:solidFill>
                <a:latin typeface="Calibri"/>
              </a:rPr>
              <a:t>Agent +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1152144"/>
            <a:ext cx="4590288" cy="227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70" b="0" i="0" dirty="0">
                <a:solidFill>
                  <a:srgbClr val="1D2D44"/>
                </a:solidFill>
                <a:latin typeface="Calibri"/>
              </a:rPr>
              <a:t>Claude Code runs the segment-discovery skill — orchestrates stages, narrates results, confirms spec with analyst. Path A (guided) and Path B (cold-start) both live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43445"/>
            <a:ext cx="4846320" cy="4376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443445"/>
            <a:ext cx="45720" cy="437605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" y="1470877"/>
            <a:ext cx="459028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 dirty="0">
                <a:solidFill>
                  <a:srgbClr val="1D2D44"/>
                </a:solidFill>
                <a:latin typeface="Calibri"/>
              </a:rPr>
              <a:t>Tool 1: Single-feature decision tree cuts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" y="1626325"/>
            <a:ext cx="4590288" cy="227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70" b="0" i="0">
                <a:solidFill>
                  <a:srgbClr val="1D2D44"/>
                </a:solidFill>
                <a:latin typeface="Calibri"/>
              </a:rPr>
              <a:t>tree_cuts.py — fits depth-2 trees on every feature independently; surfaces BAU and best single-feature thresholds. Always the first stage.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17627"/>
            <a:ext cx="4846320" cy="4376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1917627"/>
            <a:ext cx="45720" cy="437605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" y="1945059"/>
            <a:ext cx="183896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 i="0" dirty="0">
                <a:solidFill>
                  <a:srgbClr val="1D2D44"/>
                </a:solidFill>
                <a:latin typeface="Calibri"/>
              </a:rPr>
              <a:t>Tool 2: Multi-feature </a:t>
            </a:r>
            <a:r>
              <a:rPr lang="en-US" sz="800" b="1" dirty="0">
                <a:solidFill>
                  <a:srgbClr val="1D2D44"/>
                </a:solidFill>
              </a:rPr>
              <a:t>decision tree cuts</a:t>
            </a:r>
            <a:endParaRPr sz="800" b="1" i="0" dirty="0">
              <a:solidFill>
                <a:srgbClr val="1D2D44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6344" y="2100507"/>
            <a:ext cx="4590288" cy="227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70" b="0" i="0">
                <a:solidFill>
                  <a:srgbClr val="1D2D44"/>
                </a:solidFill>
                <a:latin typeface="Calibri"/>
              </a:rPr>
              <a:t>subgroup_search.py — pysubgroup beam search across thousands of multi-condition rules; ranks by WRAcc (size × deviation from BAU). The core value-add.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91809"/>
            <a:ext cx="4846320" cy="4376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2391809"/>
            <a:ext cx="45720" cy="437605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" y="2419241"/>
            <a:ext cx="459028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1D2D44"/>
                </a:solidFill>
                <a:latin typeface="Calibri"/>
              </a:rPr>
              <a:t>Tool 3: Stability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" y="2574689"/>
            <a:ext cx="4590288" cy="227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70" b="0" i="0">
                <a:solidFill>
                  <a:srgbClr val="1D2D44"/>
                </a:solidFill>
                <a:latin typeface="Calibri"/>
              </a:rPr>
              <a:t>stability.py — re-checks each top rule within every time/cohort window; flags unstable segments. No-op when no time column is set.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65990"/>
            <a:ext cx="4846320" cy="4376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865990"/>
            <a:ext cx="45720" cy="437605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" y="2893422"/>
            <a:ext cx="459028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1D2D44"/>
                </a:solidFill>
                <a:latin typeface="Calibri"/>
              </a:rPr>
              <a:t>Tool 4: SHAP driver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" y="3048870"/>
            <a:ext cx="4590288" cy="227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70" b="0" i="0">
                <a:solidFill>
                  <a:srgbClr val="1D2D44"/>
                </a:solidFill>
                <a:latin typeface="Calibri"/>
              </a:rPr>
              <a:t>drivers.py — gradient-boosted model + SHAP; confirms rules are mechanistically grounded, not data artifacts.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40172"/>
            <a:ext cx="4846320" cy="4376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3340172"/>
            <a:ext cx="45720" cy="437605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" y="3367604"/>
            <a:ext cx="459028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1D2D44"/>
                </a:solidFill>
                <a:latin typeface="Calibri"/>
              </a:rPr>
              <a:t>Orchestrator + PPT builder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" y="3523052"/>
            <a:ext cx="4590288" cy="227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70" b="0" i="0">
                <a:solidFill>
                  <a:srgbClr val="1D2D44"/>
                </a:solidFill>
                <a:latin typeface="Calibri"/>
              </a:rPr>
              <a:t>run_demo.py chains all stages → outputs/REPORT.md. build_ppt.py generates the branded deck. Both are fully data-agnostic.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814354"/>
            <a:ext cx="4846320" cy="4376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814354"/>
            <a:ext cx="45720" cy="437605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" y="3841786"/>
            <a:ext cx="459028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1D2D44"/>
                </a:solidFill>
                <a:latin typeface="Calibri"/>
              </a:rPr>
              <a:t>JSON run spec contract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" y="3997234"/>
            <a:ext cx="4590288" cy="227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70" b="0" i="0">
                <a:solidFill>
                  <a:srgbClr val="1D2D44"/>
                </a:solidFill>
                <a:latin typeface="Calibri"/>
              </a:rPr>
              <a:t>spec.template.json defines what to provide (target, features, sentinels…) but never which values. Swap the spec, the rest is unchanged.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731520"/>
            <a:ext cx="3383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1D2D44"/>
                </a:solidFill>
                <a:latin typeface="Calibri"/>
              </a:rPr>
              <a:t>EXAMPLE-SPECIFIC  —  provided by the analyst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969264"/>
            <a:ext cx="3383280" cy="15864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40680" y="969264"/>
            <a:ext cx="45720" cy="1586484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23560" y="10424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1D2D44"/>
                </a:solidFill>
                <a:latin typeface="Calibri"/>
              </a:rPr>
              <a:t>Config File  —  config.json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1243584"/>
            <a:ext cx="3063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structured &amp; technical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1426464"/>
            <a:ext cx="3063240" cy="1083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30">
                <a:solidFill>
                  <a:srgbClr val="1D2D44"/>
                </a:solidFill>
                <a:latin typeface="Calibri"/>
              </a:rPr>
              <a:t>•  Data file + dictionary (any CSV/Excel — tools don't care about column names)</a:t>
            </a:r>
          </a:p>
          <a:p>
            <a:pPr>
              <a:spcAft>
                <a:spcPts val="200"/>
              </a:spcAft>
            </a:pPr>
            <a:r>
              <a:rPr sz="730">
                <a:solidFill>
                  <a:srgbClr val="1D2D44"/>
                </a:solidFill>
                <a:latin typeface="Calibri"/>
              </a:rPr>
              <a:t>•  Target derivation rule (e.g. responded = 1 where an ID is not null)</a:t>
            </a:r>
          </a:p>
          <a:p>
            <a:pPr>
              <a:spcAft>
                <a:spcPts val="200"/>
              </a:spcAft>
            </a:pPr>
            <a:r>
              <a:rPr sz="730">
                <a:solidFill>
                  <a:srgbClr val="1D2D44"/>
                </a:solidFill>
                <a:latin typeface="Calibri"/>
              </a:rPr>
              <a:t>•  Feature set (e.g. 26 EFX attributes) + missing/sentinel codes</a:t>
            </a:r>
          </a:p>
          <a:p>
            <a:pPr>
              <a:spcAft>
                <a:spcPts val="200"/>
              </a:spcAft>
            </a:pPr>
            <a:r>
              <a:rPr sz="730">
                <a:solidFill>
                  <a:srgbClr val="1D2D44"/>
                </a:solidFill>
                <a:latin typeface="Calibri"/>
              </a:rPr>
              <a:t>•  Leakage exclusions + time/stability column for validation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40680" y="2665476"/>
            <a:ext cx="3383280" cy="15864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40680" y="2665476"/>
            <a:ext cx="45720" cy="1586484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23560" y="2738628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1D2D44"/>
                </a:solidFill>
                <a:latin typeface="Calibri"/>
              </a:rPr>
              <a:t>Prompt  —  instructions to Claude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2939796"/>
            <a:ext cx="30632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business &amp; conversational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3122676"/>
            <a:ext cx="3063240" cy="1083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730">
                <a:solidFill>
                  <a:srgbClr val="1D2D44"/>
                </a:solidFill>
                <a:latin typeface="Calibri"/>
              </a:rPr>
              <a:t>•  Business goal &amp; direction (suppress vs target)</a:t>
            </a:r>
          </a:p>
          <a:p>
            <a:pPr>
              <a:spcAft>
                <a:spcPts val="200"/>
              </a:spcAft>
            </a:pPr>
            <a:r>
              <a:rPr sz="730">
                <a:solidFill>
                  <a:srgbClr val="1D2D44"/>
                </a:solidFill>
                <a:latin typeface="Calibri"/>
              </a:rPr>
              <a:t>•  Domain context the analyst already knows</a:t>
            </a:r>
          </a:p>
          <a:p>
            <a:pPr>
              <a:spcAft>
                <a:spcPts val="200"/>
              </a:spcAft>
            </a:pPr>
            <a:r>
              <a:rPr sz="730">
                <a:solidFill>
                  <a:srgbClr val="1D2D44"/>
                </a:solidFill>
                <a:latin typeface="Calibri"/>
              </a:rPr>
              <a:t>•  What “good” looks like / review criteria</a:t>
            </a:r>
          </a:p>
          <a:p>
            <a:pPr>
              <a:spcAft>
                <a:spcPts val="200"/>
              </a:spcAft>
            </a:pPr>
            <a:r>
              <a:rPr sz="730">
                <a:solidFill>
                  <a:srgbClr val="1D2D44"/>
                </a:solidFill>
                <a:latin typeface="Calibri"/>
              </a:rPr>
              <a:t>•  Ad-hoc guidance not worth encoding in JSON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0040" y="4370832"/>
            <a:ext cx="45720" cy="34747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1207" y="4466145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1D2D44"/>
                </a:solidFill>
                <a:latin typeface="Calibri"/>
              </a:rPr>
              <a:t>Today: analyst supplies both manually (Path A)   →   Next: Path B derives the config file itself from a one-line prompt (Slide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D2D44"/>
                </a:solidFill>
                <a:latin typeface="Calibri"/>
              </a:rPr>
              <a:t>Next Steps: Path B — Cold-Start Without Manual Config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384048"/>
            <a:ext cx="914400" cy="32004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8503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Six capabilities so the agent builds the config file itself when the analyst gives only a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© 2026 Zenon, LLC.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731520"/>
            <a:ext cx="2743200" cy="36576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93192" y="786384"/>
            <a:ext cx="256032" cy="2560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78181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D2D4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786384"/>
            <a:ext cx="2249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Auto-Inspect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170432"/>
            <a:ext cx="25237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D2D44"/>
                </a:solidFill>
                <a:latin typeface="Calibri"/>
              </a:rPr>
              <a:t>Scans dtypes, null rates, cardinality, ID/date detection.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112264"/>
            <a:ext cx="2523744" cy="12801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2148840"/>
            <a:ext cx="2523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80" b="0" i="1">
                <a:solidFill>
                  <a:srgbClr val="718096"/>
                </a:solidFill>
                <a:latin typeface="Calibri"/>
              </a:rPr>
              <a:t>Replaces: manual column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73152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731520"/>
            <a:ext cx="2743200" cy="36576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73552" y="786384"/>
            <a:ext cx="256032" cy="2560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73552" y="78181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D2D44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786384"/>
            <a:ext cx="2249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Dictionary Parser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170432"/>
            <a:ext cx="25237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D2D44"/>
                </a:solidFill>
                <a:latin typeface="Calibri"/>
              </a:rPr>
              <a:t>Extracts sentinel codes &amp; attribute categories from any dictionary file.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2112264"/>
            <a:ext cx="2523744" cy="12801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0128" y="2148840"/>
            <a:ext cx="2523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80" b="0" i="1">
                <a:solidFill>
                  <a:srgbClr val="718096"/>
                </a:solidFill>
                <a:latin typeface="Calibri"/>
              </a:rPr>
              <a:t>Replaces: hand-entering sentinel codes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9" y="73152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0759" y="731520"/>
            <a:ext cx="2743200" cy="36576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53912" y="786384"/>
            <a:ext cx="256032" cy="2560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53912" y="78181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D2D44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786384"/>
            <a:ext cx="2249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Target + Leakage 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1170432"/>
            <a:ext cx="25237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D2D44"/>
                </a:solidFill>
                <a:latin typeface="Calibri"/>
              </a:rPr>
              <a:t>Proposes target candidates and flags leakage columns to exclude.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2112264"/>
            <a:ext cx="2523744" cy="12801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0488" y="2148840"/>
            <a:ext cx="2523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80" b="0" i="1">
                <a:solidFill>
                  <a:srgbClr val="718096"/>
                </a:solidFill>
                <a:latin typeface="Calibri"/>
              </a:rPr>
              <a:t>Replaces: manual target / exclude selection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56032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2560320"/>
            <a:ext cx="2743200" cy="36576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3192" y="2615184"/>
            <a:ext cx="256032" cy="2560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3192" y="261061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D2D44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2615184"/>
            <a:ext cx="2249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Domain Research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2999232"/>
            <a:ext cx="25237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D2D44"/>
                </a:solidFill>
                <a:latin typeface="Calibri"/>
              </a:rPr>
              <a:t>Web-searches the problem type for additional useful features.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" y="3941064"/>
            <a:ext cx="2523744" cy="12801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" y="3977640"/>
            <a:ext cx="2523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80" b="0" i="1">
                <a:solidFill>
                  <a:srgbClr val="718096"/>
                </a:solidFill>
                <a:latin typeface="Calibri"/>
              </a:rPr>
              <a:t>Replaces: analyst's domain knowledge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256032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73552" y="2615184"/>
            <a:ext cx="256032" cy="2560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73552" y="261061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D2D44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2736" y="2615184"/>
            <a:ext cx="2249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Auto Spec Writer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0128" y="2999232"/>
            <a:ext cx="25237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D2D44"/>
                </a:solidFill>
                <a:latin typeface="Calibri"/>
              </a:rPr>
              <a:t>Assembles steps 1–4 into config.json for one-step approval.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0128" y="3941064"/>
            <a:ext cx="2523744" cy="12801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10128" y="3977640"/>
            <a:ext cx="2523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80" b="0" i="1">
                <a:solidFill>
                  <a:srgbClr val="718096"/>
                </a:solidFill>
                <a:latin typeface="Calibri"/>
              </a:rPr>
              <a:t>Replaces: manual config authoring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59" y="256032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080759" y="2560320"/>
            <a:ext cx="2743200" cy="36576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53912" y="2615184"/>
            <a:ext cx="256032" cy="2560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53912" y="261061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D2D44"/>
                </a:solidFill>
                <a:latin typeface="Calibr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83096" y="2615184"/>
            <a:ext cx="22494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Multi-Agent + Memory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0488" y="2999232"/>
            <a:ext cx="25237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D2D44"/>
                </a:solidFill>
                <a:latin typeface="Calibri"/>
              </a:rPr>
              <a:t>Parallel sub-agents + persisted segment rules across runs.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0488" y="3941064"/>
            <a:ext cx="2523744" cy="12801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90488" y="3977640"/>
            <a:ext cx="2523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80" b="0" i="1">
                <a:solidFill>
                  <a:srgbClr val="718096"/>
                </a:solidFill>
                <a:latin typeface="Calibri"/>
              </a:rPr>
              <a:t>Replaces: sequential re-discovery each campaign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20040" y="4370832"/>
            <a:ext cx="45720" cy="34747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1207" y="4466145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1D2D44"/>
                </a:solidFill>
                <a:latin typeface="Calibri"/>
              </a:rPr>
              <a:t>End state: prompt only → agent inspects, researches, drafts config.json, confirms, and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unctions xmlns="95b248c1-8001-4b31-82a9-b788a71d9657">
      <Value>Others</Value>
    </Functions>
    <Skills xmlns="95b248c1-8001-4b31-82a9-b788a71d9657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7475FABDB7754F9FF50381C508918F" ma:contentTypeVersion="10" ma:contentTypeDescription="Create a new document." ma:contentTypeScope="" ma:versionID="29148ed48be9ea64df027db204fc1c6e">
  <xsd:schema xmlns:xsd="http://www.w3.org/2001/XMLSchema" xmlns:xs="http://www.w3.org/2001/XMLSchema" xmlns:p="http://schemas.microsoft.com/office/2006/metadata/properties" xmlns:ns2="95b248c1-8001-4b31-82a9-b788a71d9657" targetNamespace="http://schemas.microsoft.com/office/2006/metadata/properties" ma:root="true" ma:fieldsID="a57b09182cebf370c1df8ff2537c6380" ns2:_="">
    <xsd:import namespace="95b248c1-8001-4b31-82a9-b788a71d96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Functions" minOccurs="0"/>
                <xsd:element ref="ns2:Skills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b248c1-8001-4b31-82a9-b788a71d96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Functions" ma:index="16" nillable="true" ma:displayName="Function" ma:default="Others" ma:description="Name of Function" ma:format="Dropdown" ma:internalName="Functions" ma:requiredMultiChoice="true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Analytics"/>
                        <xsd:enumeration value="Software"/>
                        <xsd:enumeration value="Services"/>
                        <xsd:enumeration value="Others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Skills" ma:index="17" ma:displayName="Skills" ma:description="Add multiple Tags to filter profile." ma:format="Dropdown" ma:internalName="Skills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ED48B-B409-48A1-B1E3-BE86ADC325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3C6CA0-EFE3-4D5F-89D3-100397768F24}">
  <ds:schemaRefs>
    <ds:schemaRef ds:uri="http://schemas.microsoft.com/office/2006/metadata/properties"/>
    <ds:schemaRef ds:uri="http://purl.org/dc/elements/1.1/"/>
    <ds:schemaRef ds:uri="http://www.w3.org/XML/1998/namespace"/>
    <ds:schemaRef ds:uri="http://purl.org/dc/terms/"/>
    <ds:schemaRef ds:uri="http://purl.org/dc/dcmitype/"/>
    <ds:schemaRef ds:uri="0d7b015c-56d7-41df-9266-b742764ba8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67853456-3ee1-4edc-9403-335e2be123a6"/>
    <ds:schemaRef ds:uri="95b248c1-8001-4b31-82a9-b788a71d9657"/>
  </ds:schemaRefs>
</ds:datastoreItem>
</file>

<file path=customXml/itemProps3.xml><?xml version="1.0" encoding="utf-8"?>
<ds:datastoreItem xmlns:ds="http://schemas.openxmlformats.org/officeDocument/2006/customXml" ds:itemID="{AF6D0A70-04C4-4860-ACC3-87918A8C21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b248c1-8001-4b31-82a9-b788a71d96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601</Words>
  <Application>Microsoft Office PowerPoint</Application>
  <PresentationFormat>On-screen Show (16:9)</PresentationFormat>
  <Paragraphs>62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Zenon Overview</dc:title>
  <dc:subject>PptxGenJS Presentation</dc:subject>
  <dc:creator>Zenon, LLC</dc:creator>
  <cp:lastModifiedBy>Adarsh Kuthuru</cp:lastModifiedBy>
  <cp:revision>8</cp:revision>
  <dcterms:created xsi:type="dcterms:W3CDTF">2026-02-18T19:12:28Z</dcterms:created>
  <dcterms:modified xsi:type="dcterms:W3CDTF">2026-07-01T15:44:56Z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0x010100A17475FABDB7754F9FF50381C508918F</vt:lpwstr>
  </property>
  <property fmtid="{D5CDD505-2E9C-101B-9397-08002B2CF9AE}" pid="3" name="MediaServiceImageTags">
    <vt:lpwstr/>
  </property>
</Properties>
</file>