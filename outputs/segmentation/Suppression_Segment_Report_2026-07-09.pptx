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Suppression Segment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1D9"/>
                </a:solidFill>
                <a:latin typeface="Calibri"/>
              </a:rPr>
              <a:t>Credit Card Direct-Mail Campaign  —  Run: 2026-07-09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2514600"/>
            <a:ext cx="5971032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6120" y="2578608"/>
            <a:ext cx="5696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  Cross-Run Validated — 6 segments confirmed on 3 consecutive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54680"/>
            <a:ext cx="2194560" cy="14630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735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  <a:latin typeface="Calibri"/>
              </a:rPr>
              <a:t>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136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  <a:latin typeface="Calibri"/>
              </a:rPr>
              <a:t>Prospects Solicited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154680"/>
            <a:ext cx="2194560" cy="14630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2735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  <a:latin typeface="Calibri"/>
              </a:rPr>
              <a:t>0.41%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136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  <a:latin typeface="Calibri"/>
              </a:rPr>
              <a:t>BAU Response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154680"/>
            <a:ext cx="2194560" cy="14630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2735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  <a:latin typeface="Calibri"/>
              </a:rPr>
              <a:t>4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136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  <a:latin typeface="Calibri"/>
              </a:rPr>
              <a:t>Analysis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9" y="3154680"/>
            <a:ext cx="2194560" cy="14630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9" y="327355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  <a:latin typeface="Calibri"/>
              </a:rPr>
              <a:t>6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39136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  <a:latin typeface="Calibri"/>
              </a:rPr>
              <a:t>Suppression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1D9"/>
                </a:solidFill>
                <a:latin typeface="Calibri"/>
              </a:rPr>
              <a:t>Zenon AI  |  Confidential  | 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  <a:latin typeface="Calibri"/>
              </a:rPr>
              <a:t>Key findings from this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Credit Card Direct-Mail  |  Suppression Segment Discovery  |  Zenon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  <a:latin typeface="Calibri"/>
              </a:rPr>
              <a:t>Slide 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7040880" cy="4983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What We 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47672"/>
            <a:ext cx="82296" cy="16459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8366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BAU rate: 0.41%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5798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  <a:latin typeface="Calibri"/>
              </a:rPr>
              <a:t>99.6% of the 100,000 prospects mailed never respond — most mail is wasted.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0632"/>
            <a:ext cx="82296" cy="16459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066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6 segments confirmed (3 runs)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  <a:latin typeface="Calibri"/>
              </a:rPr>
              <a:t>Same 6 multi-feature rules, same thresholds, identical rankings across all runs.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93591"/>
            <a:ext cx="82296" cy="16459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2958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Rates 0.24–0.28% — up to 42% below BAU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039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  <a:latin typeface="Calibri"/>
              </a:rPr>
              <a:t>Top 2 segments alone suppress 21,800 records at 0.24% resp rate.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16552"/>
            <a:ext cx="82296" cy="16459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5254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All 6 stable across Jan / Feb / 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  <a:latin typeface="Calibri"/>
              </a:rPr>
              <a:t>Every rule stayed below BAU in every wave. Rules 4 &amp; 6: wider spread — monitor.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280160"/>
            <a:ext cx="4297680" cy="158191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417319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0.58×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0428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Best Suppression Lift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999232"/>
            <a:ext cx="4297680" cy="158191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136391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21,800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023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Records Suppressed (Segs 1–2)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718304"/>
            <a:ext cx="4297680" cy="1581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4855464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 Runs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74243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Cross-Run Validated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  <a:latin typeface="Calibri"/>
              </a:rPr>
              <a:t>Four-stage supervised subgroup discovery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Credit Card Direct-Mail  |  Suppression Segment Discovery  |  Zenon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  <a:latin typeface="Calibri"/>
              </a:rPr>
              <a:t>Slide 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2770632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16736"/>
            <a:ext cx="2606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V0  ·  EDA + Single-Feature Cuts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55648"/>
            <a:ext cx="2770632" cy="4480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2569463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  <a:latin typeface="Calibri"/>
              </a:rPr>
              <a:t>Establish BAU (0.41%).
Decision-tree cuts on 25 features + FICO + Income.
New: CURRENT_INCOME $292K–$346K → 0.14× lift
(n=1,705; too narrow today — explore next run).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5" y="3291840"/>
            <a:ext cx="173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9544" y="1280160"/>
            <a:ext cx="2770632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984" y="1316736"/>
            <a:ext cx="2606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V1  ·  Multi-Feature Subgroup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9544" y="1755648"/>
            <a:ext cx="2770632" cy="4480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847088"/>
            <a:ext cx="2569463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  <a:latin typeface="Calibri"/>
              </a:rPr>
              <a:t>Beam search over 2–3-condition rules (pysubgroup).
Ranked by WRAcc. Top 6 rules:
same as both prior runs. Best lift: 0.58×.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19" y="3291840"/>
            <a:ext cx="173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7" y="1280160"/>
            <a:ext cx="2770632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7" y="1316736"/>
            <a:ext cx="2606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V2  ·  Stability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7" y="1755648"/>
            <a:ext cx="2770632" cy="4480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5" y="1847088"/>
            <a:ext cx="2569463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  <a:latin typeface="Calibri"/>
              </a:rPr>
              <a:t>Re-scores each rule within each mail wave.
All 6 pass: below BAU in Jan, Feb, and Mar 2026.
Rules 4 &amp; 6 flagged for wider wave spread — monitor.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3291840"/>
            <a:ext cx="173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8551" y="1280160"/>
            <a:ext cx="2770632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1" y="1316736"/>
            <a:ext cx="2606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V3  ·  Driver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1755648"/>
            <a:ext cx="2770632" cy="4480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79" y="1847088"/>
            <a:ext cx="2569463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  <a:latin typeface="Calibri"/>
              </a:rPr>
              <a:t>Gradient-boost + SHAP on all 25 features.
Top drivers: BC Util (0.087), Balance (0.084),
Trade Age (0.057), FICO (0.055).
Full SHAP rankings in REPORT.md.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34593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  <a:latin typeface="Calibri"/>
              </a:rPr>
              <a:t>Target: BCP_APPLICATION_ID not null → responded=1  | Sentinels → NaN: 9999997–9999999, 997–999  | Time: TEST_CELL_DROP_DATE (3 waves)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Suppression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  <a:latin typeface="Calibri"/>
              </a:rPr>
              <a:t>6 multi-feature rules — all below BAU across Jan / Feb / Mar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Credit Card Direct-Mail  |  Suppression Segment Discovery  |  Zenon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  <a:latin typeface="Calibri"/>
              </a:rPr>
              <a:t>Slide 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38404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25296"/>
            <a:ext cx="3703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✓  Cross-run validated — identical to all prior runs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554480"/>
          <a:ext cx="10908792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560320"/>
                <a:gridCol w="5852160"/>
                <a:gridCol w="777240"/>
                <a:gridCol w="713232"/>
                <a:gridCol w="685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Plain-English Rule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D2B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2B55"/>
                          </a:solidFill>
                          <a:latin typeface="Calibri"/>
                        </a:rPr>
                        <a:t>Clean DQ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5yr AL DQ + No 3mo BC DQ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10,947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41E3A"/>
                          </a:solidFill>
                          <a:latin typeface="Calibri"/>
                        </a:rPr>
                        <a:t>0.579×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D2B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2B55"/>
                          </a:solidFill>
                          <a:latin typeface="Calibri"/>
                        </a:rPr>
                        <a:t>No Inquiry + Mid-Util 16–35%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1mo AL DQ + No BC inquiry (1mo) + BC util 16–35%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10,881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41E3A"/>
                          </a:solidFill>
                          <a:latin typeface="Calibri"/>
                        </a:rPr>
                        <a:t>0.583×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D2B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2B55"/>
                          </a:solidFill>
                          <a:latin typeface="Calibri"/>
                        </a:rPr>
                        <a:t>No BC Inquiry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3mo BC DQ + No BC inquiry (1mo)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10,616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41E3A"/>
                          </a:solidFill>
                          <a:latin typeface="Calibri"/>
                        </a:rPr>
                        <a:t>0.620×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D2B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2B55"/>
                          </a:solidFill>
                          <a:latin typeface="Calibri"/>
                        </a:rPr>
                        <a:t>No Inquiry + FICO 694–730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5mo BC DQ + No BC inquiry (1mo) + FICO 694–730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13,060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0.26%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41E3A"/>
                          </a:solidFill>
                          <a:latin typeface="Calibri"/>
                        </a:rPr>
                        <a:t>0.635×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D2B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2B55"/>
                          </a:solidFill>
                          <a:latin typeface="Calibri"/>
                        </a:rPr>
                        <a:t>Clean BC DQ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3mo BC DQ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12,939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41E3A"/>
                          </a:solidFill>
                          <a:latin typeface="Calibri"/>
                        </a:rPr>
                        <a:t>0.641×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D2B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2B55"/>
                          </a:solidFill>
                          <a:latin typeface="Calibri"/>
                        </a:rPr>
                        <a:t>Balance $67.5K–$136K + Clean DQ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Total balance $67.5K–$136K + No 1mo AL DQ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13,079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0.28%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41E3A"/>
                          </a:solidFill>
                          <a:latin typeface="Calibri"/>
                        </a:rPr>
                        <a:t>0.671×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488289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  <a:latin typeface="Calibri"/>
              </a:rPr>
              <a:t>Lift &lt; 1.0 = suppression.  Lower lift = stronger suppression.  Full technical rules in REPORT.md.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Stability Across Mailing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  <a:latin typeface="Calibri"/>
              </a:rPr>
              <a:t>Pass criterion: every individual wave rate AND overall rate &lt; BAU (0.41%)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Credit Card Direct-Mail  |  Suppression Segment Discovery  |  Zenon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  <a:latin typeface="Calibri"/>
              </a:rPr>
              <a:t>Slide 5 /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61872"/>
          <a:ext cx="9208008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"/>
                <a:gridCol w="3017520"/>
                <a:gridCol w="1170432"/>
                <a:gridCol w="1170432"/>
                <a:gridCol w="1170432"/>
                <a:gridCol w="987552"/>
                <a:gridCol w="685800"/>
                <a:gridCol w="74980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2026-01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2026-02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2026-03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BAU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Stable?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Clean DQ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7B83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Inquiry + Mid-Util 16–35%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7B83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BC Inquiry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7B83"/>
                          </a:solidFill>
                          <a:latin typeface="Calibri"/>
                        </a:rPr>
                        <a:t>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No Inquiry + FICO 694–730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E65C00"/>
                          </a:solidFill>
                          <a:latin typeface="Calibri"/>
                        </a:rPr>
                        <a:t>0.30%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E65C00"/>
                          </a:solidFill>
                          <a:latin typeface="Calibri"/>
                        </a:rPr>
                        <a:t>0.20%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E65C00"/>
                          </a:solidFill>
                          <a:latin typeface="Calibri"/>
                        </a:rPr>
                        <a:t>0.28%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7B83"/>
                          </a:solidFill>
                          <a:latin typeface="Calibri"/>
                        </a:rPr>
                        <a:t>0.26%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Clean BC DQ + FICO 664–694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7B83"/>
                          </a:solidFill>
                          <a:latin typeface="Calibri"/>
                        </a:rPr>
                        <a:t>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7B83"/>
                          </a:solidFill>
                          <a:latin typeface="Calibri"/>
                        </a:rPr>
                        <a:t>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44E5C"/>
                          </a:solidFill>
                          <a:latin typeface="Calibri"/>
                        </a:rPr>
                        <a:t>Balance $67.5K–$136K + Clean DQ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E65C00"/>
                          </a:solidFill>
                          <a:latin typeface="Calibri"/>
                        </a:rPr>
                        <a:t>0.33%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E65C00"/>
                          </a:solidFill>
                          <a:latin typeface="Calibri"/>
                        </a:rPr>
                        <a:t>0.29%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E65C00"/>
                          </a:solidFill>
                          <a:latin typeface="Calibri"/>
                        </a:rPr>
                        <a:t>0.21%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7B83"/>
                          </a:solidFill>
                          <a:latin typeface="Calibri"/>
                        </a:rPr>
                        <a:t>0.28%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4279392"/>
            <a:ext cx="9208008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34256"/>
            <a:ext cx="8979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All 6 / 6 pass.  ⚠ Amber = wider wave spread (&gt;0.08 pct-pt) — monitor.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  <a:latin typeface="Calibri"/>
              </a:rPr>
              <a:t>Accept / reject decisions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Credit Card Direct-Mail  |  Suppression Segment Discovery  |  Zenon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  <a:latin typeface="Calibri"/>
              </a:rPr>
              <a:t>Slide 6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806440" cy="106984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618488"/>
            <a:ext cx="292608" cy="292608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09344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371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Accept Segments 1 &amp; 2  —  Deploy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373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Suppress 21,800 records/wave at 0.24% rate (42% below BAU). 3 consecutive runs confirmed.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41448"/>
            <a:ext cx="5806440" cy="106984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" y="2761488"/>
            <a:ext cx="292608" cy="292608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752344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514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Accept Segments 3 &amp;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8803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Add ~23,700 records at 0.25–0.26%. Monitor Seg 4 wave spread each cycle.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84448"/>
            <a:ext cx="5806440" cy="10698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3904487"/>
            <a:ext cx="292608" cy="292608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895344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57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Review Segment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233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Mar 2026 rate 0.30% — closest to BAU. Accept when the next wave confirms the pattern.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27448"/>
            <a:ext cx="5806440" cy="106984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5047488"/>
            <a:ext cx="292608" cy="292608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5038344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00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Explore CURRENT_INCOME 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663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v0 cut $292K–$346K shows 0.14× lift (n=1,705). Widen the band for next 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298448"/>
            <a:ext cx="5532120" cy="44988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38988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Projected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874519"/>
            <a:ext cx="5230368" cy="12344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385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  <a:latin typeface="Calibri"/>
              </a:rPr>
              <a:t>Segs 1 &amp; 2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276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21,800 records  ·  0.24%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24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42% below BAU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264408"/>
            <a:ext cx="5230368" cy="12344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3284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  <a:latin typeface="Calibri"/>
              </a:rPr>
              <a:t>Segs 1–4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66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~35,000 records  ·  0.25%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142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39% below BAU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654296"/>
            <a:ext cx="5230368" cy="123444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718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  <a:latin typeface="Calibri"/>
              </a:rPr>
              <a:t>All 6 segments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056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~48,000 records  ·  0.26%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04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37% below BAU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23620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D1D9"/>
                </a:solidFill>
                <a:latin typeface="Calibri"/>
              </a:rPr>
              <a:t>* Overlap-adjusted estimates. Savings at $0.75–$1.50/piece.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