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12188952" cy="7315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Suppression Segment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CCD1D9"/>
                </a:solidFill>
              </a:rPr>
              <a:t>Credit Card Direct-Mail Campaign  —  Run: 2026-07-06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91840"/>
            <a:ext cx="2194560" cy="137160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0156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</a:rPr>
              <a:t>100,000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</a:rPr>
              <a:t>Prospects Solicited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291840"/>
            <a:ext cx="2194560" cy="137160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40156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</a:rPr>
              <a:t>0.41%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93192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</a:rPr>
              <a:t>BAU Response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91840"/>
            <a:ext cx="2194560" cy="137160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40156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</a:rPr>
              <a:t>4 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93192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</a:rPr>
              <a:t>Analysis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39" y="3291840"/>
            <a:ext cx="2194560" cy="137160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39" y="340156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</a:rPr>
              <a:t>6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39" y="393192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</a:rPr>
              <a:t>Suppression Segments Found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D1D9"/>
                </a:solidFill>
              </a:rPr>
              <a:t>Zenon AI  |  Confidential  |  July 6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What we found and why it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 |  Suppression Segment Discovery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2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577840" cy="4937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The Opportunity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5120640" cy="1828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57400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Wasted spend: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039112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At 0.41% BAU, 99.6% of the mail file never responds.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15768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97479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6 segments found: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97479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Multi-feature rules that suppress response to 0.24–0.28% — up to 42% below BAU.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74135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55847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Top 2 segments: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355847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~10.9% of the mail file each — drop them and cut nearly 22% of volume with minimal loss.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32503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14215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Consistent signal: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014215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All rules directionally below BAU across all 3 waves (Jan / Feb / Mar 2026).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90871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72583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Mechanistic backing: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4672583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BC utilization, total balance, and trade age are the #1–3 SHAP drivers — rules make sense.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417320"/>
            <a:ext cx="530352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46304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0.58×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03911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Best Suppression Lift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606040"/>
            <a:ext cx="530352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65176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22783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Response Rate Drop (top 2)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794760"/>
            <a:ext cx="5303520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84048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10.9%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41655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Population per Top Segment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983480"/>
            <a:ext cx="5303520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502920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~22%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60527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Mail Suppressable (top 2 segs)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Four-stage supervised subgroup discovery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 |  Suppression Segment Discovery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3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2743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371600"/>
            <a:ext cx="25237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V0  ·  EDA + Single-Feature Cuts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2743200" cy="4023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920240"/>
            <a:ext cx="2523744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Establish BAU. Run decision-tree cuts on each feature individually.
Best single cut: Income band $292k–$346k → 0.06% rate (lift 0.14×).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1417320"/>
            <a:ext cx="18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7B83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325880"/>
            <a:ext cx="2743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1371600"/>
            <a:ext cx="25237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V1  ·  Multi-Feature Subgroup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828800"/>
            <a:ext cx="2743200" cy="4023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1920240"/>
            <a:ext cx="2523744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Beam search over 2–3-condition rules (pysubgroup). Ranks by WRAcc.
25 features × beam search → 6 top suppression rules surfaced.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417320"/>
            <a:ext cx="18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7B83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325880"/>
            <a:ext cx="2743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1371600"/>
            <a:ext cx="25237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V2  ·  Stability 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828800"/>
            <a:ext cx="2743200" cy="4023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1920240"/>
            <a:ext cx="2523744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Re-scores each top rule within each mail wave (Jan / Feb / Mar 2026).
All rules held below BAU in every wave — directionally persistent.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1417320"/>
            <a:ext cx="18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7B83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53144" y="1325880"/>
            <a:ext cx="2743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1371600"/>
            <a:ext cx="25237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V3  ·  SHAP Driver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53144" y="1828800"/>
            <a:ext cx="2743200" cy="4023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2872" y="1920240"/>
            <a:ext cx="2523744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Gradient-boosted model; mean |SHAP| per feature.
Top drivers: BC Utilization (0.087), Total Balance (0.084), Trade Age (0.057), FICO (0.055).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172200"/>
            <a:ext cx="115488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CCD1D9"/>
                </a:solidFill>
              </a:rPr>
              <a:t>Target: BCP_APPLICATION_ID not null → responded=1  |  Features: 25 EFX attributes + FICO + Income (one bureau to avoid tri-bureau redundancy)  |  Sentinels treated as NaN: 9999997, 9999998, 9999999, 997, 998, 999  |  Time column: TEST_CELL_DROP_DATE (3 waves)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Ranked Suppression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Six multi-feature rules — all below BAU across Jan / Feb / Mar 2026 mailing waves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 |  Suppression Segment Discovery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4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25880"/>
            <a:ext cx="27432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62456"/>
            <a:ext cx="182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182880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6245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Business Label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325880"/>
            <a:ext cx="457200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39" y="1362456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Plain-English Rule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325880"/>
            <a:ext cx="59436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36245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1325880"/>
            <a:ext cx="54864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136245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Size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1325880"/>
            <a:ext cx="68580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362456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Resp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19" y="1325880"/>
            <a:ext cx="50292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362456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325880"/>
            <a:ext cx="62179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362456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1691640"/>
            <a:ext cx="2743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172821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691640"/>
            <a:ext cx="1828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172821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Clean DQ (5yr+3mo) + FICO 664–694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1691640"/>
            <a:ext cx="45720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39" y="1728216"/>
            <a:ext cx="44988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No DQ occ 5-yr + No BC DQ 3-mo + FICO 664–694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1691640"/>
            <a:ext cx="59436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1728216"/>
            <a:ext cx="5212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10,947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1691640"/>
            <a:ext cx="54864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172821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10.9%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19" y="1691640"/>
            <a:ext cx="685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172821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19" y="1691640"/>
            <a:ext cx="5029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172821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1691640"/>
            <a:ext cx="621792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1728216"/>
            <a:ext cx="54864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41E3A"/>
                </a:solidFill>
              </a:rPr>
              <a:t>0.58×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2194560"/>
            <a:ext cx="2743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223113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194560"/>
            <a:ext cx="1828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223113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Mid-Util + No Inquiry + Clean DQ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31720" y="2194560"/>
            <a:ext cx="4572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39" y="2231136"/>
            <a:ext cx="44988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No DQ 1-yr + No BC inquiry (1mo) + BC util 16–35%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03720" y="2194560"/>
            <a:ext cx="594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2231136"/>
            <a:ext cx="5212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10,881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79" y="2194560"/>
            <a:ext cx="5486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43800" y="223113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10.9%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19" y="2194560"/>
            <a:ext cx="685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223113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32519" y="2194560"/>
            <a:ext cx="502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223113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2194560"/>
            <a:ext cx="621792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81160" y="2231136"/>
            <a:ext cx="54864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41E3A"/>
                </a:solidFill>
              </a:rPr>
              <a:t>0.58×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2697480"/>
            <a:ext cx="2743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273405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2697480"/>
            <a:ext cx="1828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273405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FICO 664–694 + No BC Inquiry + Clean BC DQ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31720" y="2697480"/>
            <a:ext cx="45720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77439" y="2734056"/>
            <a:ext cx="44988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No BC DQ 3-mo + No BC inquiry (1mo) + FICO 664–694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03720" y="2697480"/>
            <a:ext cx="59436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9440" y="2734056"/>
            <a:ext cx="5212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10,616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98079" y="2697480"/>
            <a:ext cx="54864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43800" y="273405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10.6%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46719" y="2697480"/>
            <a:ext cx="685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92440" y="273405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32519" y="2697480"/>
            <a:ext cx="5029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78240" y="273405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35440" y="2697480"/>
            <a:ext cx="621792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81160" y="2734056"/>
            <a:ext cx="54864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41E3A"/>
                </a:solidFill>
              </a:rPr>
              <a:t>0.62×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" y="3200400"/>
            <a:ext cx="2743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323697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3200400"/>
            <a:ext cx="1828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323697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FICO 694–730 + No Inquiry + Clean BC DQ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331720" y="3200400"/>
            <a:ext cx="4572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77439" y="3236976"/>
            <a:ext cx="44988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No BC DQ 5-mo + No BC inquiry (1mo) + FICO 694–730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03720" y="3200400"/>
            <a:ext cx="594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49440" y="3236976"/>
            <a:ext cx="5212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13,060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98079" y="3200400"/>
            <a:ext cx="5486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43800" y="323697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13.1%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19" y="3200400"/>
            <a:ext cx="685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92440" y="323697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0.26%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732519" y="3200400"/>
            <a:ext cx="502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778240" y="323697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235440" y="3200400"/>
            <a:ext cx="621792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81160" y="3236976"/>
            <a:ext cx="54864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41E3A"/>
                </a:solidFill>
              </a:rPr>
              <a:t>0.64×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" y="3703320"/>
            <a:ext cx="2743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4320" y="373989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3703320"/>
            <a:ext cx="1828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373989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FICO 664–694 + Clean BC DQ 3mo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331720" y="3703320"/>
            <a:ext cx="45720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377439" y="3739896"/>
            <a:ext cx="44988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No BC DQ 3-mo + FICO 664–694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03720" y="3703320"/>
            <a:ext cx="59436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49440" y="3739896"/>
            <a:ext cx="5212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12,939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98079" y="3703320"/>
            <a:ext cx="54864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43800" y="373989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12.9%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046719" y="3703320"/>
            <a:ext cx="685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092440" y="373989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0.26%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32519" y="3703320"/>
            <a:ext cx="5029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778240" y="373989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235440" y="3703320"/>
            <a:ext cx="621792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281160" y="3739896"/>
            <a:ext cx="54864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41E3A"/>
                </a:solidFill>
              </a:rPr>
              <a:t>0.64×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8600" y="4206240"/>
            <a:ext cx="2743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4320" y="424281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4206240"/>
            <a:ext cx="1828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48640" y="424281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High Balance ($67.5K–$136K) + Clean DQ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31720" y="4206240"/>
            <a:ext cx="4572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377439" y="4242816"/>
            <a:ext cx="44988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Total balance $67.5K–$136K + No DQ occ 1-yr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903720" y="4206240"/>
            <a:ext cx="594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949440" y="4242816"/>
            <a:ext cx="5212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13,079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498079" y="4206240"/>
            <a:ext cx="5486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43800" y="424281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13.1%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046719" y="4206240"/>
            <a:ext cx="685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092440" y="424281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0.28%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732519" y="4206240"/>
            <a:ext cx="502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778240" y="424281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235440" y="4206240"/>
            <a:ext cx="621792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81160" y="4242816"/>
            <a:ext cx="54864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41E3A"/>
                </a:solidFill>
              </a:rPr>
              <a:t>0.67×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28600" y="6199632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CCD1D9"/>
                </a:solidFill>
              </a:rPr>
              <a:t>Lift &lt; 1.0 = suppression (segment responds LESS than BAU).  Lower lift = stronger suppression.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Stability Across Mailing Waves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Response rates for top 5 segments — all below BAU in every wave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 |  Suppression Segment Discovery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5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444752"/>
            <a:ext cx="1828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20040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444752"/>
            <a:ext cx="31089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Business Label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371600"/>
            <a:ext cx="13258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3" y="1444752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Jan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371600"/>
            <a:ext cx="13258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1444752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Feb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371600"/>
            <a:ext cx="13258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1444752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1371600"/>
            <a:ext cx="10972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4424" y="1444752"/>
            <a:ext cx="10058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Overall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371600"/>
            <a:ext cx="77724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1444752"/>
            <a:ext cx="68580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755648"/>
            <a:ext cx="2743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1828800"/>
            <a:ext cx="1828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1755648"/>
            <a:ext cx="32004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1828800"/>
            <a:ext cx="31089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Clean DQ (5yr+3mo) + FICO 664–694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1755648"/>
            <a:ext cx="132588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86783" y="1828800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800" y="1755648"/>
            <a:ext cx="132588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12664" y="1828800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0.19%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1755648"/>
            <a:ext cx="132588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8544" y="1828800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1755648"/>
            <a:ext cx="109728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64424" y="1828800"/>
            <a:ext cx="10058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0.24%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1755648"/>
            <a:ext cx="7772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1828800"/>
            <a:ext cx="68580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167128"/>
            <a:ext cx="274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2240280"/>
            <a:ext cx="1828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2167128"/>
            <a:ext cx="3200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2240280"/>
            <a:ext cx="31089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Mid-Util + No Inquiry + Clean DQ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2167128"/>
            <a:ext cx="1325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86783" y="2240280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57800" y="2167128"/>
            <a:ext cx="1325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12664" y="2240280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2167128"/>
            <a:ext cx="1325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38544" y="2240280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2167128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64424" y="2240280"/>
            <a:ext cx="10058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0.24%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06840" y="216712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61704" y="2240280"/>
            <a:ext cx="68580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578608"/>
            <a:ext cx="2743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" y="2651760"/>
            <a:ext cx="1828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2578608"/>
            <a:ext cx="32004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" y="2651760"/>
            <a:ext cx="31089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FICO 664–694 + No BC Inq + Clean DQ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20" y="2578608"/>
            <a:ext cx="132588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86783" y="2651760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78608"/>
            <a:ext cx="132588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12664" y="2651760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0.23%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2578608"/>
            <a:ext cx="132588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38544" y="2651760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09560" y="2578608"/>
            <a:ext cx="109728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64424" y="2651760"/>
            <a:ext cx="10058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0.25%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06840" y="2578608"/>
            <a:ext cx="7772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61704" y="2651760"/>
            <a:ext cx="68580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2990087"/>
            <a:ext cx="274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2064" y="3063239"/>
            <a:ext cx="1828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2990087"/>
            <a:ext cx="3200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6384" y="3063239"/>
            <a:ext cx="31089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FICO 694–730 + No Inquiry + Clean DQ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931920" y="2990087"/>
            <a:ext cx="1325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986783" y="3063239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0.30%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57800" y="2990087"/>
            <a:ext cx="1325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12664" y="3063239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0" y="2990087"/>
            <a:ext cx="1325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38544" y="3063239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0.28%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09560" y="2990087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64424" y="3063239"/>
            <a:ext cx="10058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0.26%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06840" y="2990087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61704" y="3063239"/>
            <a:ext cx="68580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3401568"/>
            <a:ext cx="2743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12064" y="3474720"/>
            <a:ext cx="1828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3401568"/>
            <a:ext cx="32004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6384" y="3474720"/>
            <a:ext cx="310896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FICO 664–694 + Clean BC DQ 3mo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931920" y="3401568"/>
            <a:ext cx="132588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986783" y="3474720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0.26%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257800" y="3401568"/>
            <a:ext cx="132588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12664" y="3474720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0.23%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83680" y="3401568"/>
            <a:ext cx="132588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38544" y="3474720"/>
            <a:ext cx="12344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7B83"/>
                </a:solidFill>
              </a:rPr>
              <a:t>0.30%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909560" y="3401568"/>
            <a:ext cx="109728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64424" y="3474720"/>
            <a:ext cx="100583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0.26%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06840" y="3401568"/>
            <a:ext cx="7772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61704" y="3474720"/>
            <a:ext cx="68580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4360" y="4526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41E3A"/>
                </a:solidFill>
              </a:rPr>
              <a:t>BAU = 0.41%  |  Every cell above is BELOW BAU — confirming persistent non-response across all mailing waves.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" y="5074920"/>
            <a:ext cx="115488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CCD1D9"/>
                </a:solidFill>
              </a:rPr>
              <a:t>Stability note: formal stable=True requires all waves &lt; 0.205% (50% of BAU). No rule clears that strict bar, but all are consistently below BAU in every wave — operationally valid for suppression.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Global Feature Drivers (SHAP)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Top 8 drivers of response — confirms segments are mechanistically grounded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 |  Suppression Segment Discovery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6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8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26464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Bankcard Utilization (ratio)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459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EFX_BC_UTIL_1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444752"/>
            <a:ext cx="5029200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444752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408176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Mid-util (16–35%) = card-saturated but not maxed; top suppression split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65960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956816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93852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Total Open Balance (all trades)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176272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EFX_AL_BAL_1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1975104"/>
            <a:ext cx="4855779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0539" y="1975104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38528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High balance band $67.5K–$136K is a strong suppression signal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96312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48716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4688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Age of All Open Trades (months)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2706624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EFX_AL_TRDAGE_1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2505456"/>
            <a:ext cx="3294993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9753" y="2505456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6888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Established borrowers less likely to switch — longer age → lower response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026663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017520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299923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FICO Credit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236975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FICO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035808"/>
            <a:ext cx="3179379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74139" y="3035808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999232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Mid-prime band 664–730 anchors 4 of the 6 top segments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557015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5478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529584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DQ Occurrences — 3-year window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376732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EFX_AL_DQOCURNC_3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3566160"/>
            <a:ext cx="2890344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85104" y="356616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529584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Clean DQ paradox: no delinquency = credit-satisfied, less motivated by new card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087368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4078224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4059936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Age of BC Trades (2nd oldest)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42976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EFX_BC_TRDAGE_2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39" y="4096512"/>
            <a:ext cx="2254468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49228" y="4096512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0.039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059936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Supporting signal; older BC trades correlate with settled-card behaviour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617720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4608575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459028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Bankcard Balance (5-mo)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4828031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EFX_BC_BAL_5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49039" y="4626864"/>
            <a:ext cx="2023241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18001" y="4626864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0.035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4590288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Balance trajectory over 5 months adds incremental suppression signal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148072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5138927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" y="512064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Total Open Trade Count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" y="5358383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EFX_AL_TRDCNT_1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9039" y="5157216"/>
            <a:ext cx="1965434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0194" y="5157216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0.034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512064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Many trades = established credit user, less motivated by yet another offer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5669280"/>
            <a:ext cx="11640312" cy="18288"/>
          </a:xfrm>
          <a:prstGeom prst="rect">
            <a:avLst/>
          </a:prstGeom>
          <a:solidFill>
            <a:srgbClr val="CC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5760720"/>
            <a:ext cx="1164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CCD1D9"/>
                </a:solidFill>
              </a:rPr>
              <a:t>SHAP values from gradient-boosted model on 25 EFX features + FICO + Income. Mean |SHAP| = average impact on model output magnitude.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Analyst accept / reject — then operationalise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 |  Suppression Segment Discovery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7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760720" cy="4846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Recommended Suppression 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5486400" cy="1828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73152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2B55"/>
                </a:solidFill>
              </a:rPr>
              <a:t>Accept Segs 1 &amp; 2 (minimum 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67712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44E5C"/>
                </a:solidFill>
              </a:rPr>
              <a:t>Suppress ~21,800 records (21.9% of mail). Both hit 0.24% resp rate — 42% below BAU. Consistent across all three waves. Low revenue risk.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73152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6207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2B55"/>
                </a:solidFill>
              </a:rPr>
              <a:t>Accept Segs 3 &amp; 4 (moderate action)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36392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44E5C"/>
                </a:solidFill>
              </a:rPr>
              <a:t>Add ~23,700 records. Segs 3–4 hold 0.25–0.26% across waves. FICO 694–730 (seg 4) extends coverage into near-prime band.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40"/>
            <a:ext cx="73152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3075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2B55"/>
                </a:solidFill>
              </a:rPr>
              <a:t>Accept Seg 5 (broader FICO 664–694 cut)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05072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44E5C"/>
                </a:solidFill>
              </a:rPr>
              <a:t>Adds ~12,900 records. Simpler 2-condition rule (no BC DQ + FICO). Validate wave rates before operationalising — Mar wave hit 0.30%.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17720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9943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2B55"/>
                </a:solidFill>
              </a:rPr>
              <a:t>Re-run pipeline on next campaign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73752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44E5C"/>
                </a:solidFill>
              </a:rPr>
              <a:t>Rules are feature-based, not sample-specific. Confirm lift holds on the next solicitation universe. Set quarterly cadence.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325880"/>
            <a:ext cx="5577840" cy="4846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417320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Projected 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874519"/>
            <a:ext cx="5212080" cy="1828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2011680"/>
            <a:ext cx="5212080" cy="10515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05740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Segs 1–2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3591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~21,800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35915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0.24% resp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670048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41E3A"/>
                </a:solidFill>
              </a:rPr>
              <a:t>42% below BAU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200400"/>
            <a:ext cx="5212080" cy="10515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2461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Segs 1–4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54787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~35,000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54787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0.25% resp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858768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41E3A"/>
                </a:solidFill>
              </a:rPr>
              <a:t>39% below BAU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4389120"/>
            <a:ext cx="5212080" cy="10515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443484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All 6 segs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7365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~48,000 records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73659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0.26% resp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047488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41E3A"/>
                </a:solidFill>
              </a:rPr>
              <a:t>36% below BAU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603504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* Overlap-adjusted estimates. Exact counts depend on which segments are combined and de-duplicated.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